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5233F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5233F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5233F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5233F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5233F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5233F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5233F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5233F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5233F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15233F"/>
        </a:fontRef>
        <a:srgbClr val="15233F"/>
      </a:tcTxStyle>
      <a:tcStyle>
        <a:tcBdr>
          <a:left>
            <a:ln w="12700" cap="flat">
              <a:solidFill>
                <a:srgbClr val="1B2437"/>
              </a:solidFill>
              <a:prstDash val="solid"/>
              <a:round/>
            </a:ln>
          </a:left>
          <a:right>
            <a:ln w="12700" cap="flat">
              <a:solidFill>
                <a:srgbClr val="1B2437"/>
              </a:solidFill>
              <a:prstDash val="solid"/>
              <a:round/>
            </a:ln>
          </a:right>
          <a:top>
            <a:ln w="12700" cap="flat">
              <a:solidFill>
                <a:srgbClr val="1B2437"/>
              </a:solidFill>
              <a:prstDash val="solid"/>
              <a:round/>
            </a:ln>
          </a:top>
          <a:bottom>
            <a:ln w="12700" cap="flat">
              <a:solidFill>
                <a:srgbClr val="1B2437"/>
              </a:solidFill>
              <a:prstDash val="solid"/>
              <a:round/>
            </a:ln>
          </a:bottom>
          <a:insideH>
            <a:ln w="12700" cap="flat">
              <a:solidFill>
                <a:srgbClr val="1B2437"/>
              </a:solidFill>
              <a:prstDash val="solid"/>
              <a:round/>
            </a:ln>
          </a:insideH>
          <a:insideV>
            <a:ln w="12700" cap="flat">
              <a:solidFill>
                <a:srgbClr val="1B2437"/>
              </a:solidFill>
              <a:prstDash val="solid"/>
              <a:round/>
            </a:ln>
          </a:insideV>
        </a:tcBdr>
        <a:fill>
          <a:solidFill>
            <a:srgbClr val="CBDAD8"/>
          </a:solidFill>
        </a:fill>
      </a:tcStyle>
    </a:wholeTbl>
    <a:band2H>
      <a:tcTxStyle b="def" i="def"/>
      <a:tcStyle>
        <a:tcBdr/>
        <a:fill>
          <a:solidFill>
            <a:srgbClr val="E7EDEC"/>
          </a:solidFill>
        </a:fill>
      </a:tcStyle>
    </a:band2H>
    <a:firstCol>
      <a:tcTxStyle b="on" i="off">
        <a:fontRef idx="minor">
          <a:srgbClr val="1B2437"/>
        </a:fontRef>
        <a:srgbClr val="1B2437"/>
      </a:tcTxStyle>
      <a:tcStyle>
        <a:tcBdr>
          <a:left>
            <a:ln w="12700" cap="flat">
              <a:solidFill>
                <a:srgbClr val="1B2437"/>
              </a:solidFill>
              <a:prstDash val="solid"/>
              <a:round/>
            </a:ln>
          </a:left>
          <a:right>
            <a:ln w="12700" cap="flat">
              <a:solidFill>
                <a:srgbClr val="1B2437"/>
              </a:solidFill>
              <a:prstDash val="solid"/>
              <a:round/>
            </a:ln>
          </a:right>
          <a:top>
            <a:ln w="12700" cap="flat">
              <a:solidFill>
                <a:srgbClr val="1B2437"/>
              </a:solidFill>
              <a:prstDash val="solid"/>
              <a:round/>
            </a:ln>
          </a:top>
          <a:bottom>
            <a:ln w="12700" cap="flat">
              <a:solidFill>
                <a:srgbClr val="1B2437"/>
              </a:solidFill>
              <a:prstDash val="solid"/>
              <a:round/>
            </a:ln>
          </a:bottom>
          <a:insideH>
            <a:ln w="12700" cap="flat">
              <a:solidFill>
                <a:srgbClr val="1B2437"/>
              </a:solidFill>
              <a:prstDash val="solid"/>
              <a:round/>
            </a:ln>
          </a:insideH>
          <a:insideV>
            <a:ln w="12700" cap="flat">
              <a:solidFill>
                <a:srgbClr val="1B2437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1B2437"/>
        </a:fontRef>
        <a:srgbClr val="1B2437"/>
      </a:tcTxStyle>
      <a:tcStyle>
        <a:tcBdr>
          <a:left>
            <a:ln w="12700" cap="flat">
              <a:solidFill>
                <a:srgbClr val="1B2437"/>
              </a:solidFill>
              <a:prstDash val="solid"/>
              <a:round/>
            </a:ln>
          </a:left>
          <a:right>
            <a:ln w="12700" cap="flat">
              <a:solidFill>
                <a:srgbClr val="1B2437"/>
              </a:solidFill>
              <a:prstDash val="solid"/>
              <a:round/>
            </a:ln>
          </a:right>
          <a:top>
            <a:ln w="38100" cap="flat">
              <a:solidFill>
                <a:srgbClr val="1B2437"/>
              </a:solidFill>
              <a:prstDash val="solid"/>
              <a:round/>
            </a:ln>
          </a:top>
          <a:bottom>
            <a:ln w="12700" cap="flat">
              <a:solidFill>
                <a:srgbClr val="1B2437"/>
              </a:solidFill>
              <a:prstDash val="solid"/>
              <a:round/>
            </a:ln>
          </a:bottom>
          <a:insideH>
            <a:ln w="12700" cap="flat">
              <a:solidFill>
                <a:srgbClr val="1B2437"/>
              </a:solidFill>
              <a:prstDash val="solid"/>
              <a:round/>
            </a:ln>
          </a:insideH>
          <a:insideV>
            <a:ln w="12700" cap="flat">
              <a:solidFill>
                <a:srgbClr val="1B2437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1B2437"/>
        </a:fontRef>
        <a:srgbClr val="1B2437"/>
      </a:tcTxStyle>
      <a:tcStyle>
        <a:tcBdr>
          <a:left>
            <a:ln w="12700" cap="flat">
              <a:solidFill>
                <a:srgbClr val="1B2437"/>
              </a:solidFill>
              <a:prstDash val="solid"/>
              <a:round/>
            </a:ln>
          </a:left>
          <a:right>
            <a:ln w="12700" cap="flat">
              <a:solidFill>
                <a:srgbClr val="1B2437"/>
              </a:solidFill>
              <a:prstDash val="solid"/>
              <a:round/>
            </a:ln>
          </a:right>
          <a:top>
            <a:ln w="12700" cap="flat">
              <a:solidFill>
                <a:srgbClr val="1B2437"/>
              </a:solidFill>
              <a:prstDash val="solid"/>
              <a:round/>
            </a:ln>
          </a:top>
          <a:bottom>
            <a:ln w="38100" cap="flat">
              <a:solidFill>
                <a:srgbClr val="1B2437"/>
              </a:solidFill>
              <a:prstDash val="solid"/>
              <a:round/>
            </a:ln>
          </a:bottom>
          <a:insideH>
            <a:ln w="12700" cap="flat">
              <a:solidFill>
                <a:srgbClr val="1B2437"/>
              </a:solidFill>
              <a:prstDash val="solid"/>
              <a:round/>
            </a:ln>
          </a:insideH>
          <a:insideV>
            <a:ln w="12700" cap="flat">
              <a:solidFill>
                <a:srgbClr val="1B2437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15233F"/>
        </a:fontRef>
        <a:srgbClr val="15233F"/>
      </a:tcTxStyle>
      <a:tcStyle>
        <a:tcBdr>
          <a:left>
            <a:ln w="12700" cap="flat">
              <a:solidFill>
                <a:srgbClr val="1B2437"/>
              </a:solidFill>
              <a:prstDash val="solid"/>
              <a:round/>
            </a:ln>
          </a:left>
          <a:right>
            <a:ln w="12700" cap="flat">
              <a:solidFill>
                <a:srgbClr val="1B2437"/>
              </a:solidFill>
              <a:prstDash val="solid"/>
              <a:round/>
            </a:ln>
          </a:right>
          <a:top>
            <a:ln w="12700" cap="flat">
              <a:solidFill>
                <a:srgbClr val="1B2437"/>
              </a:solidFill>
              <a:prstDash val="solid"/>
              <a:round/>
            </a:ln>
          </a:top>
          <a:bottom>
            <a:ln w="12700" cap="flat">
              <a:solidFill>
                <a:srgbClr val="1B2437"/>
              </a:solidFill>
              <a:prstDash val="solid"/>
              <a:round/>
            </a:ln>
          </a:bottom>
          <a:insideH>
            <a:ln w="12700" cap="flat">
              <a:solidFill>
                <a:srgbClr val="1B2437"/>
              </a:solidFill>
              <a:prstDash val="solid"/>
              <a:round/>
            </a:ln>
          </a:insideH>
          <a:insideV>
            <a:ln w="12700" cap="flat">
              <a:solidFill>
                <a:srgbClr val="1B2437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1B2437"/>
        </a:fontRef>
        <a:srgbClr val="1B2437"/>
      </a:tcTxStyle>
      <a:tcStyle>
        <a:tcBdr>
          <a:left>
            <a:ln w="12700" cap="flat">
              <a:solidFill>
                <a:srgbClr val="1B2437"/>
              </a:solidFill>
              <a:prstDash val="solid"/>
              <a:round/>
            </a:ln>
          </a:left>
          <a:right>
            <a:ln w="12700" cap="flat">
              <a:solidFill>
                <a:srgbClr val="1B2437"/>
              </a:solidFill>
              <a:prstDash val="solid"/>
              <a:round/>
            </a:ln>
          </a:right>
          <a:top>
            <a:ln w="12700" cap="flat">
              <a:solidFill>
                <a:srgbClr val="1B2437"/>
              </a:solidFill>
              <a:prstDash val="solid"/>
              <a:round/>
            </a:ln>
          </a:top>
          <a:bottom>
            <a:ln w="12700" cap="flat">
              <a:solidFill>
                <a:srgbClr val="1B2437"/>
              </a:solidFill>
              <a:prstDash val="solid"/>
              <a:round/>
            </a:ln>
          </a:bottom>
          <a:insideH>
            <a:ln w="12700" cap="flat">
              <a:solidFill>
                <a:srgbClr val="1B2437"/>
              </a:solidFill>
              <a:prstDash val="solid"/>
              <a:round/>
            </a:ln>
          </a:insideH>
          <a:insideV>
            <a:ln w="12700" cap="flat">
              <a:solidFill>
                <a:srgbClr val="1B2437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1B2437"/>
        </a:fontRef>
        <a:srgbClr val="1B2437"/>
      </a:tcTxStyle>
      <a:tcStyle>
        <a:tcBdr>
          <a:left>
            <a:ln w="12700" cap="flat">
              <a:solidFill>
                <a:srgbClr val="1B2437"/>
              </a:solidFill>
              <a:prstDash val="solid"/>
              <a:round/>
            </a:ln>
          </a:left>
          <a:right>
            <a:ln w="12700" cap="flat">
              <a:solidFill>
                <a:srgbClr val="1B2437"/>
              </a:solidFill>
              <a:prstDash val="solid"/>
              <a:round/>
            </a:ln>
          </a:right>
          <a:top>
            <a:ln w="38100" cap="flat">
              <a:solidFill>
                <a:srgbClr val="1B2437"/>
              </a:solidFill>
              <a:prstDash val="solid"/>
              <a:round/>
            </a:ln>
          </a:top>
          <a:bottom>
            <a:ln w="12700" cap="flat">
              <a:solidFill>
                <a:srgbClr val="1B2437"/>
              </a:solidFill>
              <a:prstDash val="solid"/>
              <a:round/>
            </a:ln>
          </a:bottom>
          <a:insideH>
            <a:ln w="12700" cap="flat">
              <a:solidFill>
                <a:srgbClr val="1B2437"/>
              </a:solidFill>
              <a:prstDash val="solid"/>
              <a:round/>
            </a:ln>
          </a:insideH>
          <a:insideV>
            <a:ln w="12700" cap="flat">
              <a:solidFill>
                <a:srgbClr val="1B2437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1B2437"/>
        </a:fontRef>
        <a:srgbClr val="1B2437"/>
      </a:tcTxStyle>
      <a:tcStyle>
        <a:tcBdr>
          <a:left>
            <a:ln w="12700" cap="flat">
              <a:solidFill>
                <a:srgbClr val="1B2437"/>
              </a:solidFill>
              <a:prstDash val="solid"/>
              <a:round/>
            </a:ln>
          </a:left>
          <a:right>
            <a:ln w="12700" cap="flat">
              <a:solidFill>
                <a:srgbClr val="1B2437"/>
              </a:solidFill>
              <a:prstDash val="solid"/>
              <a:round/>
            </a:ln>
          </a:right>
          <a:top>
            <a:ln w="12700" cap="flat">
              <a:solidFill>
                <a:srgbClr val="1B2437"/>
              </a:solidFill>
              <a:prstDash val="solid"/>
              <a:round/>
            </a:ln>
          </a:top>
          <a:bottom>
            <a:ln w="38100" cap="flat">
              <a:solidFill>
                <a:srgbClr val="1B2437"/>
              </a:solidFill>
              <a:prstDash val="solid"/>
              <a:round/>
            </a:ln>
          </a:bottom>
          <a:insideH>
            <a:ln w="12700" cap="flat">
              <a:solidFill>
                <a:srgbClr val="1B2437"/>
              </a:solidFill>
              <a:prstDash val="solid"/>
              <a:round/>
            </a:ln>
          </a:insideH>
          <a:insideV>
            <a:ln w="12700" cap="flat">
              <a:solidFill>
                <a:srgbClr val="1B2437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15233F"/>
        </a:fontRef>
        <a:srgbClr val="15233F"/>
      </a:tcTxStyle>
      <a:tcStyle>
        <a:tcBdr>
          <a:left>
            <a:ln w="12700" cap="flat">
              <a:solidFill>
                <a:srgbClr val="1B2437"/>
              </a:solidFill>
              <a:prstDash val="solid"/>
              <a:round/>
            </a:ln>
          </a:left>
          <a:right>
            <a:ln w="12700" cap="flat">
              <a:solidFill>
                <a:srgbClr val="1B2437"/>
              </a:solidFill>
              <a:prstDash val="solid"/>
              <a:round/>
            </a:ln>
          </a:right>
          <a:top>
            <a:ln w="12700" cap="flat">
              <a:solidFill>
                <a:srgbClr val="1B2437"/>
              </a:solidFill>
              <a:prstDash val="solid"/>
              <a:round/>
            </a:ln>
          </a:top>
          <a:bottom>
            <a:ln w="12700" cap="flat">
              <a:solidFill>
                <a:srgbClr val="1B2437"/>
              </a:solidFill>
              <a:prstDash val="solid"/>
              <a:round/>
            </a:ln>
          </a:bottom>
          <a:insideH>
            <a:ln w="12700" cap="flat">
              <a:solidFill>
                <a:srgbClr val="1B2437"/>
              </a:solidFill>
              <a:prstDash val="solid"/>
              <a:round/>
            </a:ln>
          </a:insideH>
          <a:insideV>
            <a:ln w="12700" cap="flat">
              <a:solidFill>
                <a:srgbClr val="1B2437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1B2437"/>
        </a:fontRef>
        <a:srgbClr val="1B2437"/>
      </a:tcTxStyle>
      <a:tcStyle>
        <a:tcBdr>
          <a:left>
            <a:ln w="12700" cap="flat">
              <a:solidFill>
                <a:srgbClr val="1B2437"/>
              </a:solidFill>
              <a:prstDash val="solid"/>
              <a:round/>
            </a:ln>
          </a:left>
          <a:right>
            <a:ln w="12700" cap="flat">
              <a:solidFill>
                <a:srgbClr val="1B2437"/>
              </a:solidFill>
              <a:prstDash val="solid"/>
              <a:round/>
            </a:ln>
          </a:right>
          <a:top>
            <a:ln w="12700" cap="flat">
              <a:solidFill>
                <a:srgbClr val="1B2437"/>
              </a:solidFill>
              <a:prstDash val="solid"/>
              <a:round/>
            </a:ln>
          </a:top>
          <a:bottom>
            <a:ln w="12700" cap="flat">
              <a:solidFill>
                <a:srgbClr val="1B2437"/>
              </a:solidFill>
              <a:prstDash val="solid"/>
              <a:round/>
            </a:ln>
          </a:bottom>
          <a:insideH>
            <a:ln w="12700" cap="flat">
              <a:solidFill>
                <a:srgbClr val="1B2437"/>
              </a:solidFill>
              <a:prstDash val="solid"/>
              <a:round/>
            </a:ln>
          </a:insideH>
          <a:insideV>
            <a:ln w="12700" cap="flat">
              <a:solidFill>
                <a:srgbClr val="1B2437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1B2437"/>
        </a:fontRef>
        <a:srgbClr val="1B2437"/>
      </a:tcTxStyle>
      <a:tcStyle>
        <a:tcBdr>
          <a:left>
            <a:ln w="12700" cap="flat">
              <a:solidFill>
                <a:srgbClr val="1B2437"/>
              </a:solidFill>
              <a:prstDash val="solid"/>
              <a:round/>
            </a:ln>
          </a:left>
          <a:right>
            <a:ln w="12700" cap="flat">
              <a:solidFill>
                <a:srgbClr val="1B2437"/>
              </a:solidFill>
              <a:prstDash val="solid"/>
              <a:round/>
            </a:ln>
          </a:right>
          <a:top>
            <a:ln w="38100" cap="flat">
              <a:solidFill>
                <a:srgbClr val="1B2437"/>
              </a:solidFill>
              <a:prstDash val="solid"/>
              <a:round/>
            </a:ln>
          </a:top>
          <a:bottom>
            <a:ln w="12700" cap="flat">
              <a:solidFill>
                <a:srgbClr val="1B2437"/>
              </a:solidFill>
              <a:prstDash val="solid"/>
              <a:round/>
            </a:ln>
          </a:bottom>
          <a:insideH>
            <a:ln w="12700" cap="flat">
              <a:solidFill>
                <a:srgbClr val="1B2437"/>
              </a:solidFill>
              <a:prstDash val="solid"/>
              <a:round/>
            </a:ln>
          </a:insideH>
          <a:insideV>
            <a:ln w="12700" cap="flat">
              <a:solidFill>
                <a:srgbClr val="1B2437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1B2437"/>
        </a:fontRef>
        <a:srgbClr val="1B2437"/>
      </a:tcTxStyle>
      <a:tcStyle>
        <a:tcBdr>
          <a:left>
            <a:ln w="12700" cap="flat">
              <a:solidFill>
                <a:srgbClr val="1B2437"/>
              </a:solidFill>
              <a:prstDash val="solid"/>
              <a:round/>
            </a:ln>
          </a:left>
          <a:right>
            <a:ln w="12700" cap="flat">
              <a:solidFill>
                <a:srgbClr val="1B2437"/>
              </a:solidFill>
              <a:prstDash val="solid"/>
              <a:round/>
            </a:ln>
          </a:right>
          <a:top>
            <a:ln w="12700" cap="flat">
              <a:solidFill>
                <a:srgbClr val="1B2437"/>
              </a:solidFill>
              <a:prstDash val="solid"/>
              <a:round/>
            </a:ln>
          </a:top>
          <a:bottom>
            <a:ln w="38100" cap="flat">
              <a:solidFill>
                <a:srgbClr val="1B2437"/>
              </a:solidFill>
              <a:prstDash val="solid"/>
              <a:round/>
            </a:ln>
          </a:bottom>
          <a:insideH>
            <a:ln w="12700" cap="flat">
              <a:solidFill>
                <a:srgbClr val="1B2437"/>
              </a:solidFill>
              <a:prstDash val="solid"/>
              <a:round/>
            </a:ln>
          </a:insideH>
          <a:insideV>
            <a:ln w="12700" cap="flat">
              <a:solidFill>
                <a:srgbClr val="1B2437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15233F"/>
        </a:fontRef>
        <a:srgbClr val="15233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8"/>
          </a:solidFill>
        </a:fill>
      </a:tcStyle>
    </a:wholeTbl>
    <a:band2H>
      <a:tcTxStyle b="def" i="def"/>
      <a:tcStyle>
        <a:tcBdr/>
        <a:fill>
          <a:solidFill>
            <a:srgbClr val="1B2437"/>
          </a:solidFill>
        </a:fill>
      </a:tcStyle>
    </a:band2H>
    <a:firstCol>
      <a:tcTxStyle b="on" i="off">
        <a:fontRef idx="minor">
          <a:srgbClr val="1B2437"/>
        </a:fontRef>
        <a:srgbClr val="1B243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15233F"/>
        </a:fontRef>
        <a:srgbClr val="15233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15233F"/>
              </a:solidFill>
              <a:prstDash val="solid"/>
              <a:round/>
            </a:ln>
          </a:top>
          <a:bottom>
            <a:ln w="25400" cap="flat">
              <a:solidFill>
                <a:srgbClr val="15233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B2437"/>
          </a:solidFill>
        </a:fill>
      </a:tcStyle>
    </a:lastRow>
    <a:firstRow>
      <a:tcTxStyle b="on" i="off">
        <a:fontRef idx="minor">
          <a:srgbClr val="1B2437"/>
        </a:fontRef>
        <a:srgbClr val="1B243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15233F"/>
              </a:solidFill>
              <a:prstDash val="solid"/>
              <a:round/>
            </a:ln>
          </a:top>
          <a:bottom>
            <a:ln w="25400" cap="flat">
              <a:solidFill>
                <a:srgbClr val="15233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15233F"/>
        </a:fontRef>
        <a:srgbClr val="15233F"/>
      </a:tcTxStyle>
      <a:tcStyle>
        <a:tcBdr>
          <a:left>
            <a:ln w="12700" cap="flat">
              <a:solidFill>
                <a:srgbClr val="1B2437"/>
              </a:solidFill>
              <a:prstDash val="solid"/>
              <a:round/>
            </a:ln>
          </a:left>
          <a:right>
            <a:ln w="12700" cap="flat">
              <a:solidFill>
                <a:srgbClr val="1B2437"/>
              </a:solidFill>
              <a:prstDash val="solid"/>
              <a:round/>
            </a:ln>
          </a:right>
          <a:top>
            <a:ln w="12700" cap="flat">
              <a:solidFill>
                <a:srgbClr val="1B2437"/>
              </a:solidFill>
              <a:prstDash val="solid"/>
              <a:round/>
            </a:ln>
          </a:top>
          <a:bottom>
            <a:ln w="12700" cap="flat">
              <a:solidFill>
                <a:srgbClr val="1B2437"/>
              </a:solidFill>
              <a:prstDash val="solid"/>
              <a:round/>
            </a:ln>
          </a:bottom>
          <a:insideH>
            <a:ln w="12700" cap="flat">
              <a:solidFill>
                <a:srgbClr val="1B2437"/>
              </a:solidFill>
              <a:prstDash val="solid"/>
              <a:round/>
            </a:ln>
          </a:insideH>
          <a:insideV>
            <a:ln w="12700" cap="flat">
              <a:solidFill>
                <a:srgbClr val="1B2437"/>
              </a:solidFill>
              <a:prstDash val="solid"/>
              <a:round/>
            </a:ln>
          </a:insideV>
        </a:tcBdr>
        <a:fill>
          <a:solidFill>
            <a:srgbClr val="CACBCD"/>
          </a:solidFill>
        </a:fill>
      </a:tcStyle>
    </a:wholeTbl>
    <a:band2H>
      <a:tcTxStyle b="def" i="def"/>
      <a:tcStyle>
        <a:tcBdr/>
        <a:fill>
          <a:solidFill>
            <a:srgbClr val="E7E7E8"/>
          </a:solidFill>
        </a:fill>
      </a:tcStyle>
    </a:band2H>
    <a:firstCol>
      <a:tcTxStyle b="on" i="off">
        <a:fontRef idx="minor">
          <a:srgbClr val="1B2437"/>
        </a:fontRef>
        <a:srgbClr val="1B2437"/>
      </a:tcTxStyle>
      <a:tcStyle>
        <a:tcBdr>
          <a:left>
            <a:ln w="12700" cap="flat">
              <a:solidFill>
                <a:srgbClr val="1B2437"/>
              </a:solidFill>
              <a:prstDash val="solid"/>
              <a:round/>
            </a:ln>
          </a:left>
          <a:right>
            <a:ln w="12700" cap="flat">
              <a:solidFill>
                <a:srgbClr val="1B2437"/>
              </a:solidFill>
              <a:prstDash val="solid"/>
              <a:round/>
            </a:ln>
          </a:right>
          <a:top>
            <a:ln w="12700" cap="flat">
              <a:solidFill>
                <a:srgbClr val="1B2437"/>
              </a:solidFill>
              <a:prstDash val="solid"/>
              <a:round/>
            </a:ln>
          </a:top>
          <a:bottom>
            <a:ln w="12700" cap="flat">
              <a:solidFill>
                <a:srgbClr val="1B2437"/>
              </a:solidFill>
              <a:prstDash val="solid"/>
              <a:round/>
            </a:ln>
          </a:bottom>
          <a:insideH>
            <a:ln w="12700" cap="flat">
              <a:solidFill>
                <a:srgbClr val="1B2437"/>
              </a:solidFill>
              <a:prstDash val="solid"/>
              <a:round/>
            </a:ln>
          </a:insideH>
          <a:insideV>
            <a:ln w="12700" cap="flat">
              <a:solidFill>
                <a:srgbClr val="1B2437"/>
              </a:solidFill>
              <a:prstDash val="solid"/>
              <a:round/>
            </a:ln>
          </a:insideV>
        </a:tcBdr>
        <a:fill>
          <a:solidFill>
            <a:srgbClr val="15233F"/>
          </a:solidFill>
        </a:fill>
      </a:tcStyle>
    </a:firstCol>
    <a:lastRow>
      <a:tcTxStyle b="on" i="off">
        <a:fontRef idx="minor">
          <a:srgbClr val="1B2437"/>
        </a:fontRef>
        <a:srgbClr val="1B2437"/>
      </a:tcTxStyle>
      <a:tcStyle>
        <a:tcBdr>
          <a:left>
            <a:ln w="12700" cap="flat">
              <a:solidFill>
                <a:srgbClr val="1B2437"/>
              </a:solidFill>
              <a:prstDash val="solid"/>
              <a:round/>
            </a:ln>
          </a:left>
          <a:right>
            <a:ln w="12700" cap="flat">
              <a:solidFill>
                <a:srgbClr val="1B2437"/>
              </a:solidFill>
              <a:prstDash val="solid"/>
              <a:round/>
            </a:ln>
          </a:right>
          <a:top>
            <a:ln w="38100" cap="flat">
              <a:solidFill>
                <a:srgbClr val="1B2437"/>
              </a:solidFill>
              <a:prstDash val="solid"/>
              <a:round/>
            </a:ln>
          </a:top>
          <a:bottom>
            <a:ln w="12700" cap="flat">
              <a:solidFill>
                <a:srgbClr val="1B2437"/>
              </a:solidFill>
              <a:prstDash val="solid"/>
              <a:round/>
            </a:ln>
          </a:bottom>
          <a:insideH>
            <a:ln w="12700" cap="flat">
              <a:solidFill>
                <a:srgbClr val="1B2437"/>
              </a:solidFill>
              <a:prstDash val="solid"/>
              <a:round/>
            </a:ln>
          </a:insideH>
          <a:insideV>
            <a:ln w="12700" cap="flat">
              <a:solidFill>
                <a:srgbClr val="1B2437"/>
              </a:solidFill>
              <a:prstDash val="solid"/>
              <a:round/>
            </a:ln>
          </a:insideV>
        </a:tcBdr>
        <a:fill>
          <a:solidFill>
            <a:srgbClr val="15233F"/>
          </a:solidFill>
        </a:fill>
      </a:tcStyle>
    </a:lastRow>
    <a:firstRow>
      <a:tcTxStyle b="on" i="off">
        <a:fontRef idx="minor">
          <a:srgbClr val="1B2437"/>
        </a:fontRef>
        <a:srgbClr val="1B2437"/>
      </a:tcTxStyle>
      <a:tcStyle>
        <a:tcBdr>
          <a:left>
            <a:ln w="12700" cap="flat">
              <a:solidFill>
                <a:srgbClr val="1B2437"/>
              </a:solidFill>
              <a:prstDash val="solid"/>
              <a:round/>
            </a:ln>
          </a:left>
          <a:right>
            <a:ln w="12700" cap="flat">
              <a:solidFill>
                <a:srgbClr val="1B2437"/>
              </a:solidFill>
              <a:prstDash val="solid"/>
              <a:round/>
            </a:ln>
          </a:right>
          <a:top>
            <a:ln w="12700" cap="flat">
              <a:solidFill>
                <a:srgbClr val="1B2437"/>
              </a:solidFill>
              <a:prstDash val="solid"/>
              <a:round/>
            </a:ln>
          </a:top>
          <a:bottom>
            <a:ln w="38100" cap="flat">
              <a:solidFill>
                <a:srgbClr val="1B2437"/>
              </a:solidFill>
              <a:prstDash val="solid"/>
              <a:round/>
            </a:ln>
          </a:bottom>
          <a:insideH>
            <a:ln w="12700" cap="flat">
              <a:solidFill>
                <a:srgbClr val="1B2437"/>
              </a:solidFill>
              <a:prstDash val="solid"/>
              <a:round/>
            </a:ln>
          </a:insideH>
          <a:insideV>
            <a:ln w="12700" cap="flat">
              <a:solidFill>
                <a:srgbClr val="1B2437"/>
              </a:solidFill>
              <a:prstDash val="solid"/>
              <a:round/>
            </a:ln>
          </a:insideV>
        </a:tcBdr>
        <a:fill>
          <a:solidFill>
            <a:srgbClr val="15233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1B2437"/>
        </a:fontRef>
        <a:srgbClr val="1B2437"/>
      </a:tcTxStyle>
      <a:tcStyle>
        <a:tcBdr>
          <a:left>
            <a:ln w="12700" cap="flat">
              <a:solidFill>
                <a:srgbClr val="1B2437"/>
              </a:solidFill>
              <a:prstDash val="solid"/>
              <a:round/>
            </a:ln>
          </a:left>
          <a:right>
            <a:ln w="12700" cap="flat">
              <a:solidFill>
                <a:srgbClr val="1B2437"/>
              </a:solidFill>
              <a:prstDash val="solid"/>
              <a:round/>
            </a:ln>
          </a:right>
          <a:top>
            <a:ln w="12700" cap="flat">
              <a:solidFill>
                <a:srgbClr val="1B2437"/>
              </a:solidFill>
              <a:prstDash val="solid"/>
              <a:round/>
            </a:ln>
          </a:top>
          <a:bottom>
            <a:ln w="12700" cap="flat">
              <a:solidFill>
                <a:srgbClr val="1B2437"/>
              </a:solidFill>
              <a:prstDash val="solid"/>
              <a:round/>
            </a:ln>
          </a:bottom>
          <a:insideH>
            <a:ln w="12700" cap="flat">
              <a:solidFill>
                <a:srgbClr val="1B2437"/>
              </a:solidFill>
              <a:prstDash val="solid"/>
              <a:round/>
            </a:ln>
          </a:insideH>
          <a:insideV>
            <a:ln w="12700" cap="flat">
              <a:solidFill>
                <a:srgbClr val="1B2437"/>
              </a:solidFill>
              <a:prstDash val="solid"/>
              <a:round/>
            </a:ln>
          </a:insideV>
        </a:tcBdr>
        <a:fill>
          <a:solidFill>
            <a:srgbClr val="1B2437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1B2437"/>
        </a:fontRef>
        <a:srgbClr val="1B2437"/>
      </a:tcTxStyle>
      <a:tcStyle>
        <a:tcBdr>
          <a:left>
            <a:ln w="12700" cap="flat">
              <a:solidFill>
                <a:srgbClr val="1B2437"/>
              </a:solidFill>
              <a:prstDash val="solid"/>
              <a:round/>
            </a:ln>
          </a:left>
          <a:right>
            <a:ln w="12700" cap="flat">
              <a:solidFill>
                <a:srgbClr val="1B2437"/>
              </a:solidFill>
              <a:prstDash val="solid"/>
              <a:round/>
            </a:ln>
          </a:right>
          <a:top>
            <a:ln w="12700" cap="flat">
              <a:solidFill>
                <a:srgbClr val="1B2437"/>
              </a:solidFill>
              <a:prstDash val="solid"/>
              <a:round/>
            </a:ln>
          </a:top>
          <a:bottom>
            <a:ln w="12700" cap="flat">
              <a:solidFill>
                <a:srgbClr val="1B2437"/>
              </a:solidFill>
              <a:prstDash val="solid"/>
              <a:round/>
            </a:ln>
          </a:bottom>
          <a:insideH>
            <a:ln w="12700" cap="flat">
              <a:solidFill>
                <a:srgbClr val="1B2437"/>
              </a:solidFill>
              <a:prstDash val="solid"/>
              <a:round/>
            </a:ln>
          </a:insideH>
          <a:insideV>
            <a:ln w="12700" cap="flat">
              <a:solidFill>
                <a:srgbClr val="1B2437"/>
              </a:solidFill>
              <a:prstDash val="solid"/>
              <a:round/>
            </a:ln>
          </a:insideV>
        </a:tcBdr>
        <a:fill>
          <a:solidFill>
            <a:srgbClr val="1B2437">
              <a:alpha val="20000"/>
            </a:srgbClr>
          </a:solidFill>
        </a:fill>
      </a:tcStyle>
    </a:firstCol>
    <a:lastRow>
      <a:tcTxStyle b="on" i="off">
        <a:fontRef idx="minor">
          <a:srgbClr val="1B2437"/>
        </a:fontRef>
        <a:srgbClr val="1B2437"/>
      </a:tcTxStyle>
      <a:tcStyle>
        <a:tcBdr>
          <a:left>
            <a:ln w="12700" cap="flat">
              <a:solidFill>
                <a:srgbClr val="1B2437"/>
              </a:solidFill>
              <a:prstDash val="solid"/>
              <a:round/>
            </a:ln>
          </a:left>
          <a:right>
            <a:ln w="12700" cap="flat">
              <a:solidFill>
                <a:srgbClr val="1B2437"/>
              </a:solidFill>
              <a:prstDash val="solid"/>
              <a:round/>
            </a:ln>
          </a:right>
          <a:top>
            <a:ln w="50800" cap="flat">
              <a:solidFill>
                <a:srgbClr val="1B2437"/>
              </a:solidFill>
              <a:prstDash val="solid"/>
              <a:round/>
            </a:ln>
          </a:top>
          <a:bottom>
            <a:ln w="12700" cap="flat">
              <a:solidFill>
                <a:srgbClr val="1B2437"/>
              </a:solidFill>
              <a:prstDash val="solid"/>
              <a:round/>
            </a:ln>
          </a:bottom>
          <a:insideH>
            <a:ln w="12700" cap="flat">
              <a:solidFill>
                <a:srgbClr val="1B2437"/>
              </a:solidFill>
              <a:prstDash val="solid"/>
              <a:round/>
            </a:ln>
          </a:insideH>
          <a:insideV>
            <a:ln w="12700" cap="flat">
              <a:solidFill>
                <a:srgbClr val="1B2437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1B2437"/>
        </a:fontRef>
        <a:srgbClr val="1B2437"/>
      </a:tcTxStyle>
      <a:tcStyle>
        <a:tcBdr>
          <a:left>
            <a:ln w="12700" cap="flat">
              <a:solidFill>
                <a:srgbClr val="1B2437"/>
              </a:solidFill>
              <a:prstDash val="solid"/>
              <a:round/>
            </a:ln>
          </a:left>
          <a:right>
            <a:ln w="12700" cap="flat">
              <a:solidFill>
                <a:srgbClr val="1B2437"/>
              </a:solidFill>
              <a:prstDash val="solid"/>
              <a:round/>
            </a:ln>
          </a:right>
          <a:top>
            <a:ln w="12700" cap="flat">
              <a:solidFill>
                <a:srgbClr val="1B2437"/>
              </a:solidFill>
              <a:prstDash val="solid"/>
              <a:round/>
            </a:ln>
          </a:top>
          <a:bottom>
            <a:ln w="25400" cap="flat">
              <a:solidFill>
                <a:srgbClr val="1B2437"/>
              </a:solidFill>
              <a:prstDash val="solid"/>
              <a:round/>
            </a:ln>
          </a:bottom>
          <a:insideH>
            <a:ln w="12700" cap="flat">
              <a:solidFill>
                <a:srgbClr val="1B2437"/>
              </a:solidFill>
              <a:prstDash val="solid"/>
              <a:round/>
            </a:ln>
          </a:insideH>
          <a:insideV>
            <a:ln w="12700" cap="flat">
              <a:solidFill>
                <a:srgbClr val="1B2437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7" name="Shape 5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solidFill>
          <a:srgbClr val="1B2437"/>
        </a:solidFill>
        <a:latin typeface="+mn-lt"/>
        <a:ea typeface="+mn-ea"/>
        <a:cs typeface="+mn-cs"/>
        <a:sym typeface="Calibri"/>
      </a:defRPr>
    </a:lvl1pPr>
    <a:lvl2pPr indent="228600" latinLnBrk="0">
      <a:defRPr sz="1200">
        <a:solidFill>
          <a:srgbClr val="1B2437"/>
        </a:solidFill>
        <a:latin typeface="+mn-lt"/>
        <a:ea typeface="+mn-ea"/>
        <a:cs typeface="+mn-cs"/>
        <a:sym typeface="Calibri"/>
      </a:defRPr>
    </a:lvl2pPr>
    <a:lvl3pPr indent="457200" latinLnBrk="0">
      <a:defRPr sz="1200">
        <a:solidFill>
          <a:srgbClr val="1B2437"/>
        </a:solidFill>
        <a:latin typeface="+mn-lt"/>
        <a:ea typeface="+mn-ea"/>
        <a:cs typeface="+mn-cs"/>
        <a:sym typeface="Calibri"/>
      </a:defRPr>
    </a:lvl3pPr>
    <a:lvl4pPr indent="685800" latinLnBrk="0">
      <a:defRPr sz="1200">
        <a:solidFill>
          <a:srgbClr val="1B2437"/>
        </a:solidFill>
        <a:latin typeface="+mn-lt"/>
        <a:ea typeface="+mn-ea"/>
        <a:cs typeface="+mn-cs"/>
        <a:sym typeface="Calibri"/>
      </a:defRPr>
    </a:lvl4pPr>
    <a:lvl5pPr indent="914400" latinLnBrk="0">
      <a:defRPr sz="1200">
        <a:solidFill>
          <a:srgbClr val="1B2437"/>
        </a:solidFill>
        <a:latin typeface="+mn-lt"/>
        <a:ea typeface="+mn-ea"/>
        <a:cs typeface="+mn-cs"/>
        <a:sym typeface="Calibri"/>
      </a:defRPr>
    </a:lvl5pPr>
    <a:lvl6pPr indent="1143000" latinLnBrk="0">
      <a:defRPr sz="1200">
        <a:solidFill>
          <a:srgbClr val="1B2437"/>
        </a:solidFill>
        <a:latin typeface="+mn-lt"/>
        <a:ea typeface="+mn-ea"/>
        <a:cs typeface="+mn-cs"/>
        <a:sym typeface="Calibri"/>
      </a:defRPr>
    </a:lvl6pPr>
    <a:lvl7pPr indent="1371600" latinLnBrk="0">
      <a:defRPr sz="1200">
        <a:solidFill>
          <a:srgbClr val="1B2437"/>
        </a:solidFill>
        <a:latin typeface="+mn-lt"/>
        <a:ea typeface="+mn-ea"/>
        <a:cs typeface="+mn-cs"/>
        <a:sym typeface="Calibri"/>
      </a:defRPr>
    </a:lvl7pPr>
    <a:lvl8pPr indent="1600200" latinLnBrk="0">
      <a:defRPr sz="1200">
        <a:solidFill>
          <a:srgbClr val="1B2437"/>
        </a:solidFill>
        <a:latin typeface="+mn-lt"/>
        <a:ea typeface="+mn-ea"/>
        <a:cs typeface="+mn-cs"/>
        <a:sym typeface="Calibri"/>
      </a:defRPr>
    </a:lvl8pPr>
    <a:lvl9pPr indent="1828800" latinLnBrk="0">
      <a:defRPr sz="1200">
        <a:solidFill>
          <a:srgbClr val="1B2437"/>
        </a:solidFill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bg>
      <p:bgPr>
        <a:solidFill>
          <a:srgbClr val="15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7862887" y="0"/>
            <a:ext cx="4327526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822325" y="2011362"/>
            <a:ext cx="6765925" cy="1004888"/>
          </a:xfrm>
          <a:prstGeom prst="rect">
            <a:avLst/>
          </a:prstGeom>
        </p:spPr>
        <p:txBody>
          <a:bodyPr anchor="t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822325" y="3154362"/>
            <a:ext cx="6765925" cy="4572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bg>
      <p:bgPr>
        <a:solidFill>
          <a:srgbClr val="F1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639762" y="365125"/>
            <a:ext cx="10880726" cy="685800"/>
          </a:xfrm>
          <a:prstGeom prst="rect">
            <a:avLst/>
          </a:prstGeom>
        </p:spPr>
        <p:txBody>
          <a:bodyPr anchor="t"/>
          <a:lstStyle/>
          <a:p>
            <a:pPr/>
            <a:r>
              <a:t>Title Text</a:t>
            </a:r>
          </a:p>
        </p:txBody>
      </p:sp>
      <p:sp>
        <p:nvSpPr>
          <p:cNvPr id="31" name="Body Level One…"/>
          <p:cNvSpPr txBox="1"/>
          <p:nvPr>
            <p:ph type="body" sz="quarter" idx="1"/>
          </p:nvPr>
        </p:nvSpPr>
        <p:spPr>
          <a:xfrm>
            <a:off x="639762" y="1050925"/>
            <a:ext cx="10880726" cy="4111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/>
          <p:nvPr>
            <p:ph type="sldNum" sz="quarter" idx="2"/>
          </p:nvPr>
        </p:nvSpPr>
        <p:spPr>
          <a:xfrm>
            <a:off x="11287611" y="6381750"/>
            <a:ext cx="232877" cy="22851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bg>
      <p:bgPr>
        <a:solidFill>
          <a:srgbClr val="F1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/>
          <p:nvPr>
            <p:ph type="title"/>
          </p:nvPr>
        </p:nvSpPr>
        <p:spPr>
          <a:xfrm>
            <a:off x="639762" y="365125"/>
            <a:ext cx="10880726" cy="685800"/>
          </a:xfrm>
          <a:prstGeom prst="rect">
            <a:avLst/>
          </a:prstGeom>
        </p:spPr>
        <p:txBody>
          <a:bodyPr anchor="t"/>
          <a:lstStyle/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xfrm>
            <a:off x="11287611" y="6381750"/>
            <a:ext cx="232877" cy="22851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bg>
      <p:bgPr>
        <a:solidFill>
          <a:srgbClr val="15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xfrm>
            <a:off x="822324" y="1096962"/>
            <a:ext cx="10058401" cy="1004888"/>
          </a:xfrm>
          <a:prstGeom prst="rect">
            <a:avLst/>
          </a:prstGeom>
        </p:spPr>
        <p:txBody>
          <a:bodyPr anchor="t"/>
          <a:lstStyle/>
          <a:p>
            <a:pPr/>
            <a:r>
              <a:t>Title Text</a:t>
            </a:r>
          </a:p>
        </p:txBody>
      </p:sp>
      <p:sp>
        <p:nvSpPr>
          <p:cNvPr id="49" name="Body Level One…"/>
          <p:cNvSpPr txBox="1"/>
          <p:nvPr>
            <p:ph type="body" sz="quarter" idx="1"/>
          </p:nvPr>
        </p:nvSpPr>
        <p:spPr>
          <a:xfrm>
            <a:off x="822324" y="2193925"/>
            <a:ext cx="10058401" cy="4572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0487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504723" y="6356350"/>
            <a:ext cx="232877" cy="22851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64748B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B2437"/>
          </a:solidFill>
          <a:uFillTx/>
          <a:latin typeface="Cambria"/>
          <a:ea typeface="Cambria"/>
          <a:cs typeface="Cambria"/>
          <a:sym typeface="Cambria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B2437"/>
          </a:solidFill>
          <a:uFillTx/>
          <a:latin typeface="Cambria"/>
          <a:ea typeface="Cambria"/>
          <a:cs typeface="Cambria"/>
          <a:sym typeface="Cambria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B2437"/>
          </a:solidFill>
          <a:uFillTx/>
          <a:latin typeface="Cambria"/>
          <a:ea typeface="Cambria"/>
          <a:cs typeface="Cambria"/>
          <a:sym typeface="Cambria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B2437"/>
          </a:solidFill>
          <a:uFillTx/>
          <a:latin typeface="Cambria"/>
          <a:ea typeface="Cambria"/>
          <a:cs typeface="Cambria"/>
          <a:sym typeface="Cambria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B2437"/>
          </a:solidFill>
          <a:uFillTx/>
          <a:latin typeface="Cambria"/>
          <a:ea typeface="Cambria"/>
          <a:cs typeface="Cambria"/>
          <a:sym typeface="Cambria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B2437"/>
          </a:solidFill>
          <a:uFillTx/>
          <a:latin typeface="Cambria"/>
          <a:ea typeface="Cambria"/>
          <a:cs typeface="Cambria"/>
          <a:sym typeface="Cambria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B2437"/>
          </a:solidFill>
          <a:uFillTx/>
          <a:latin typeface="Cambria"/>
          <a:ea typeface="Cambria"/>
          <a:cs typeface="Cambria"/>
          <a:sym typeface="Cambria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B2437"/>
          </a:solidFill>
          <a:uFillTx/>
          <a:latin typeface="Cambria"/>
          <a:ea typeface="Cambria"/>
          <a:cs typeface="Cambria"/>
          <a:sym typeface="Cambria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B2437"/>
          </a:solidFill>
          <a:uFillTx/>
          <a:latin typeface="Cambria"/>
          <a:ea typeface="Cambria"/>
          <a:cs typeface="Cambria"/>
          <a:sym typeface="Cambri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1B2437"/>
          </a:solidFill>
          <a:uFillTx/>
          <a:latin typeface="+mn-lt"/>
          <a:ea typeface="+mn-ea"/>
          <a:cs typeface="+mn-cs"/>
          <a:sym typeface="Calibri"/>
        </a:defRPr>
      </a:lvl1pPr>
      <a:lvl2pPr marL="1035755" marR="0" indent="-578555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1B2437"/>
          </a:solidFill>
          <a:uFillTx/>
          <a:latin typeface="+mn-lt"/>
          <a:ea typeface="+mn-ea"/>
          <a:cs typeface="+mn-cs"/>
          <a:sym typeface="Calibri"/>
        </a:defRPr>
      </a:lvl2pPr>
      <a:lvl3pPr marL="1456266" marR="0" indent="-541866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1B2437"/>
          </a:solidFill>
          <a:uFillTx/>
          <a:latin typeface="+mn-lt"/>
          <a:ea typeface="+mn-ea"/>
          <a:cs typeface="+mn-cs"/>
          <a:sym typeface="Calibri"/>
        </a:defRPr>
      </a:lvl3pPr>
      <a:lvl4pPr marL="2020711" marR="0" indent="-64911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1B2437"/>
          </a:solidFill>
          <a:uFillTx/>
          <a:latin typeface="+mn-lt"/>
          <a:ea typeface="+mn-ea"/>
          <a:cs typeface="+mn-cs"/>
          <a:sym typeface="Calibri"/>
        </a:defRPr>
      </a:lvl4pPr>
      <a:lvl5pPr marL="2477911" marR="0" indent="-64911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1B2437"/>
          </a:solidFill>
          <a:uFillTx/>
          <a:latin typeface="+mn-lt"/>
          <a:ea typeface="+mn-ea"/>
          <a:cs typeface="+mn-cs"/>
          <a:sym typeface="Calibri"/>
        </a:defRPr>
      </a:lvl5pPr>
      <a:lvl6pPr marL="2935111" marR="0" indent="-64911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"/>
        <a:tabLst/>
        <a:defRPr b="0" baseline="0" cap="none" i="0" spc="0" strike="noStrike" sz="3200" u="none">
          <a:solidFill>
            <a:srgbClr val="1B2437"/>
          </a:solidFill>
          <a:uFillTx/>
          <a:latin typeface="+mn-lt"/>
          <a:ea typeface="+mn-ea"/>
          <a:cs typeface="+mn-cs"/>
          <a:sym typeface="Calibri"/>
        </a:defRPr>
      </a:lvl6pPr>
      <a:lvl7pPr marL="3392311" marR="0" indent="-64911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"/>
        <a:tabLst/>
        <a:defRPr b="0" baseline="0" cap="none" i="0" spc="0" strike="noStrike" sz="3200" u="none">
          <a:solidFill>
            <a:srgbClr val="1B2437"/>
          </a:solidFill>
          <a:uFillTx/>
          <a:latin typeface="+mn-lt"/>
          <a:ea typeface="+mn-ea"/>
          <a:cs typeface="+mn-cs"/>
          <a:sym typeface="Calibri"/>
        </a:defRPr>
      </a:lvl7pPr>
      <a:lvl8pPr marL="3849511" marR="0" indent="-64911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"/>
        <a:tabLst/>
        <a:defRPr b="0" baseline="0" cap="none" i="0" spc="0" strike="noStrike" sz="3200" u="none">
          <a:solidFill>
            <a:srgbClr val="1B2437"/>
          </a:solidFill>
          <a:uFillTx/>
          <a:latin typeface="+mn-lt"/>
          <a:ea typeface="+mn-ea"/>
          <a:cs typeface="+mn-cs"/>
          <a:sym typeface="Calibri"/>
        </a:defRPr>
      </a:lvl8pPr>
      <a:lvl9pPr marL="4306711" marR="0" indent="-64911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"/>
        <a:tabLst/>
        <a:defRPr b="0" baseline="0" cap="none" i="0" spc="0" strike="noStrike" sz="3200" u="none">
          <a:solidFill>
            <a:srgbClr val="1B2437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Relationship Id="rId3" Type="http://schemas.openxmlformats.org/officeDocument/2006/relationships/image" Target="../media/image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1"/>
          <p:cNvSpPr txBox="1"/>
          <p:nvPr>
            <p:ph type="title"/>
          </p:nvPr>
        </p:nvSpPr>
        <p:spPr>
          <a:xfrm>
            <a:off x="903605" y="2427922"/>
            <a:ext cx="6765926" cy="1004888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Task Management System</a:t>
            </a:r>
          </a:p>
        </p:txBody>
      </p:sp>
      <p:sp>
        <p:nvSpPr>
          <p:cNvPr id="60" name="Text 1"/>
          <p:cNvSpPr txBox="1"/>
          <p:nvPr>
            <p:ph type="body" sz="quarter" idx="1"/>
          </p:nvPr>
        </p:nvSpPr>
        <p:spPr>
          <a:xfrm>
            <a:off x="1249044" y="3577478"/>
            <a:ext cx="6765926" cy="4572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500"/>
              </a:spcBef>
              <a:buSzTx/>
              <a:buNone/>
              <a:defRPr sz="2200">
                <a:solidFill>
                  <a:srgbClr val="000000"/>
                </a:solidFill>
              </a:defRPr>
            </a:lvl1pPr>
          </a:lstStyle>
          <a:p>
            <a:pPr/>
            <a:r>
              <a:t>Microservices Architecture with .NET 10 &amp; React</a:t>
            </a:r>
          </a:p>
        </p:txBody>
      </p:sp>
      <p:sp>
        <p:nvSpPr>
          <p:cNvPr id="61" name="Text 4"/>
          <p:cNvSpPr txBox="1"/>
          <p:nvPr/>
        </p:nvSpPr>
        <p:spPr>
          <a:xfrm>
            <a:off x="7862887" y="580429"/>
            <a:ext cx="4327526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60" sz="1600">
                <a:solidFill>
                  <a:srgbClr val="CBD5E1"/>
                </a:solidFill>
              </a:defRPr>
            </a:lvl1pPr>
          </a:lstStyle>
          <a:p>
            <a:pPr/>
            <a:r>
              <a:t>PROJECT TEAM</a:t>
            </a:r>
          </a:p>
        </p:txBody>
      </p:sp>
      <p:sp>
        <p:nvSpPr>
          <p:cNvPr id="62" name="Avinash Kanaujia photo ring"/>
          <p:cNvSpPr/>
          <p:nvPr/>
        </p:nvSpPr>
        <p:spPr>
          <a:xfrm>
            <a:off x="9401175" y="1133475"/>
            <a:ext cx="1252538" cy="125253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63" name="Avinash Kanaujia photo" descr="Avinash Kanaujia phot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455150" y="1187450"/>
            <a:ext cx="1143000" cy="1143000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Text 6"/>
          <p:cNvSpPr txBox="1"/>
          <p:nvPr/>
        </p:nvSpPr>
        <p:spPr>
          <a:xfrm>
            <a:off x="8320087" y="2533426"/>
            <a:ext cx="341153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Avinash Kanaujia</a:t>
            </a:r>
          </a:p>
        </p:txBody>
      </p:sp>
      <p:sp>
        <p:nvSpPr>
          <p:cNvPr id="65" name="Denish Murawala photo ring"/>
          <p:cNvSpPr/>
          <p:nvPr/>
        </p:nvSpPr>
        <p:spPr>
          <a:xfrm>
            <a:off x="9401175" y="2962275"/>
            <a:ext cx="1252538" cy="125253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66" name="Denish Murawala photo" descr="Denish Murawala photo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455150" y="3016250"/>
            <a:ext cx="1143000" cy="1143000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Text 8"/>
          <p:cNvSpPr txBox="1"/>
          <p:nvPr/>
        </p:nvSpPr>
        <p:spPr>
          <a:xfrm>
            <a:off x="8320087" y="4362226"/>
            <a:ext cx="341153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Denish Murawala</a:t>
            </a:r>
          </a:p>
        </p:txBody>
      </p:sp>
      <p:sp>
        <p:nvSpPr>
          <p:cNvPr id="68" name="Anushtup Ganguly photo ring"/>
          <p:cNvSpPr/>
          <p:nvPr/>
        </p:nvSpPr>
        <p:spPr>
          <a:xfrm>
            <a:off x="9401175" y="4791075"/>
            <a:ext cx="1252538" cy="125253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69" name="Anushtup Ganguly photo" descr="Anushtup Ganguly photo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455150" y="4845050"/>
            <a:ext cx="1143000" cy="1143000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Text 10"/>
          <p:cNvSpPr txBox="1"/>
          <p:nvPr/>
        </p:nvSpPr>
        <p:spPr>
          <a:xfrm>
            <a:off x="8320087" y="6191026"/>
            <a:ext cx="341153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Anushtup Ganguly</a:t>
            </a:r>
          </a:p>
        </p:txBody>
      </p:sp>
      <p:sp>
        <p:nvSpPr>
          <p:cNvPr id="71" name="Line"/>
          <p:cNvSpPr/>
          <p:nvPr/>
        </p:nvSpPr>
        <p:spPr>
          <a:xfrm>
            <a:off x="-277055" y="1004069"/>
            <a:ext cx="8125176" cy="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72" name="Screenshot 2026-10-19 at 11.22.06 AM.png" descr="Screenshot 2026-10-19 at 11.22.06 A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240452" y="18740"/>
            <a:ext cx="2821716" cy="969074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Under the Supervision of :- Mr. Anand Babu"/>
          <p:cNvSpPr txBox="1"/>
          <p:nvPr/>
        </p:nvSpPr>
        <p:spPr>
          <a:xfrm>
            <a:off x="1806362" y="4175742"/>
            <a:ext cx="419483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/>
            <a:r>
              <a:t>Under the Supervision of :- Mr. Anand Babu </a:t>
            </a:r>
          </a:p>
        </p:txBody>
      </p:sp>
      <p:sp>
        <p:nvSpPr>
          <p:cNvPr id="74" name="Project Presentation"/>
          <p:cNvSpPr txBox="1"/>
          <p:nvPr/>
        </p:nvSpPr>
        <p:spPr>
          <a:xfrm>
            <a:off x="2551538" y="1897270"/>
            <a:ext cx="2467990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b="1" sz="2200"/>
            </a:lvl1pPr>
          </a:lstStyle>
          <a:p>
            <a:pPr/>
            <a:r>
              <a:t>Project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0"/>
          <p:cNvSpPr txBox="1"/>
          <p:nvPr>
            <p:ph type="title"/>
          </p:nvPr>
        </p:nvSpPr>
        <p:spPr>
          <a:xfrm>
            <a:off x="639762" y="365125"/>
            <a:ext cx="10880726" cy="6858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3400">
                <a:solidFill>
                  <a:srgbClr val="15233F"/>
                </a:solidFill>
              </a:defRPr>
            </a:lvl1pPr>
          </a:lstStyle>
          <a:p>
            <a:pPr/>
            <a:r>
              <a:t>Project Introduction</a:t>
            </a:r>
          </a:p>
        </p:txBody>
      </p:sp>
      <p:sp>
        <p:nvSpPr>
          <p:cNvPr id="77" name="Text 0"/>
          <p:cNvSpPr txBox="1"/>
          <p:nvPr>
            <p:ph type="body" sz="quarter" idx="1"/>
          </p:nvPr>
        </p:nvSpPr>
        <p:spPr>
          <a:xfrm>
            <a:off x="639762" y="1050925"/>
            <a:ext cx="10880726" cy="4111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300"/>
              </a:spcBef>
              <a:buSzTx/>
              <a:buNone/>
              <a:defRPr sz="1600">
                <a:solidFill>
                  <a:srgbClr val="64748B"/>
                </a:solidFill>
              </a:defRPr>
            </a:lvl1pPr>
          </a:lstStyle>
          <a:p>
            <a:pPr/>
            <a:r>
              <a:t>What we built and why it matters</a:t>
            </a:r>
          </a:p>
        </p:txBody>
      </p:sp>
      <p:sp>
        <p:nvSpPr>
          <p:cNvPr id="78" name="Overview card 1"/>
          <p:cNvSpPr/>
          <p:nvPr/>
        </p:nvSpPr>
        <p:spPr>
          <a:xfrm>
            <a:off x="639762" y="1782762"/>
            <a:ext cx="3429001" cy="2239963"/>
          </a:xfrm>
          <a:prstGeom prst="roundRect">
            <a:avLst>
              <a:gd name="adj" fmla="val 326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79" name="Overview icon 1 circle"/>
          <p:cNvSpPr/>
          <p:nvPr/>
        </p:nvSpPr>
        <p:spPr>
          <a:xfrm>
            <a:off x="914400" y="2057400"/>
            <a:ext cx="593725" cy="59372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80" name="Overview icon 1" descr="Overview icon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9500" y="2222500"/>
            <a:ext cx="261938" cy="261938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Text 4"/>
          <p:cNvSpPr txBox="1"/>
          <p:nvPr/>
        </p:nvSpPr>
        <p:spPr>
          <a:xfrm>
            <a:off x="914400" y="2892673"/>
            <a:ext cx="2879725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Collaboration</a:t>
            </a:r>
          </a:p>
        </p:txBody>
      </p:sp>
      <p:sp>
        <p:nvSpPr>
          <p:cNvPr id="82" name="Text 5"/>
          <p:cNvSpPr txBox="1"/>
          <p:nvPr/>
        </p:nvSpPr>
        <p:spPr>
          <a:xfrm>
            <a:off x="914400" y="3244850"/>
            <a:ext cx="2879725" cy="4179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B2437"/>
                </a:solidFill>
              </a:defRPr>
            </a:lvl1pPr>
          </a:lstStyle>
          <a:p>
            <a:pPr/>
            <a:r>
              <a:t>Projects, sprints, tasks, comments &amp; files in one place</a:t>
            </a:r>
          </a:p>
        </p:txBody>
      </p:sp>
      <p:sp>
        <p:nvSpPr>
          <p:cNvPr id="83" name="Overview card 2"/>
          <p:cNvSpPr/>
          <p:nvPr/>
        </p:nvSpPr>
        <p:spPr>
          <a:xfrm>
            <a:off x="4365625" y="1782762"/>
            <a:ext cx="3429000" cy="2239963"/>
          </a:xfrm>
          <a:prstGeom prst="roundRect">
            <a:avLst>
              <a:gd name="adj" fmla="val 326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84" name="Overview icon 2 circle"/>
          <p:cNvSpPr/>
          <p:nvPr/>
        </p:nvSpPr>
        <p:spPr>
          <a:xfrm>
            <a:off x="4640262" y="2057400"/>
            <a:ext cx="593726" cy="59372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85" name="Overview icon 2" descr="Overview icon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806950" y="2222500"/>
            <a:ext cx="260350" cy="261938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Text 8"/>
          <p:cNvSpPr txBox="1"/>
          <p:nvPr/>
        </p:nvSpPr>
        <p:spPr>
          <a:xfrm>
            <a:off x="4640262" y="2892673"/>
            <a:ext cx="2879726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Microservices</a:t>
            </a:r>
          </a:p>
        </p:txBody>
      </p:sp>
      <p:sp>
        <p:nvSpPr>
          <p:cNvPr id="87" name="Text 9"/>
          <p:cNvSpPr txBox="1"/>
          <p:nvPr/>
        </p:nvSpPr>
        <p:spPr>
          <a:xfrm>
            <a:off x="4640262" y="3244850"/>
            <a:ext cx="2879726" cy="4179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B2437"/>
                </a:solidFill>
              </a:defRPr>
            </a:lvl1pPr>
          </a:lstStyle>
          <a:p>
            <a:pPr/>
            <a:r>
              <a:t>8 focused .NET services behind an Ocelot gateway</a:t>
            </a:r>
          </a:p>
        </p:txBody>
      </p:sp>
      <p:sp>
        <p:nvSpPr>
          <p:cNvPr id="88" name="Overview card 3"/>
          <p:cNvSpPr/>
          <p:nvPr/>
        </p:nvSpPr>
        <p:spPr>
          <a:xfrm>
            <a:off x="8091487" y="1782762"/>
            <a:ext cx="3429001" cy="2239963"/>
          </a:xfrm>
          <a:prstGeom prst="roundRect">
            <a:avLst>
              <a:gd name="adj" fmla="val 326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89" name="Overview icon 3 circle"/>
          <p:cNvSpPr/>
          <p:nvPr/>
        </p:nvSpPr>
        <p:spPr>
          <a:xfrm>
            <a:off x="8366125" y="2057400"/>
            <a:ext cx="593725" cy="59372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90" name="Overview icon 3" descr="Overview icon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532812" y="2222500"/>
            <a:ext cx="260351" cy="261938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Text 12"/>
          <p:cNvSpPr txBox="1"/>
          <p:nvPr/>
        </p:nvSpPr>
        <p:spPr>
          <a:xfrm>
            <a:off x="8366125" y="2892673"/>
            <a:ext cx="2879725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Roles</a:t>
            </a:r>
          </a:p>
        </p:txBody>
      </p:sp>
      <p:sp>
        <p:nvSpPr>
          <p:cNvPr id="92" name="Text 13"/>
          <p:cNvSpPr txBox="1"/>
          <p:nvPr/>
        </p:nvSpPr>
        <p:spPr>
          <a:xfrm>
            <a:off x="8366125" y="3244850"/>
            <a:ext cx="2879725" cy="4179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B2437"/>
                </a:solidFill>
              </a:defRPr>
            </a:lvl1pPr>
          </a:lstStyle>
          <a:p>
            <a:pPr/>
            <a:r>
              <a:t>Admin configures; users execute work on Kanban boards</a:t>
            </a:r>
          </a:p>
        </p:txBody>
      </p:sp>
      <p:sp>
        <p:nvSpPr>
          <p:cNvPr id="93" name="Text 14"/>
          <p:cNvSpPr txBox="1"/>
          <p:nvPr/>
        </p:nvSpPr>
        <p:spPr>
          <a:xfrm>
            <a:off x="639762" y="4433887"/>
            <a:ext cx="10880726" cy="1079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28600" indent="-228600">
              <a:spcBef>
                <a:spcPts val="1000"/>
              </a:spcBef>
              <a:buSzPct val="100000"/>
              <a:buChar char="•"/>
              <a:defRPr>
                <a:solidFill>
                  <a:srgbClr val="1B2437"/>
                </a:solidFill>
              </a:defRPr>
            </a:pPr>
            <a:r>
              <a:t>End-to-end task board for software teams — similar spirit to Jira/Trello, scoped for learning.</a:t>
            </a:r>
          </a:p>
          <a:p>
            <a:pPr marL="228600" indent="-228600">
              <a:spcBef>
                <a:spcPts val="1000"/>
              </a:spcBef>
              <a:buSzPct val="100000"/>
              <a:buChar char="•"/>
              <a:defRPr>
                <a:solidFill>
                  <a:srgbClr val="1B2437"/>
                </a:solidFill>
              </a:defRPr>
            </a:pPr>
            <a:r>
              <a:t>Runs fully on our machine: Docker (SQL Server, MongoDB) + React UI on port 5173.</a:t>
            </a:r>
          </a:p>
          <a:p>
            <a:pPr marL="228600" indent="-228600">
              <a:spcBef>
                <a:spcPts val="1000"/>
              </a:spcBef>
              <a:buSzPct val="100000"/>
              <a:buChar char="•"/>
              <a:defRPr>
                <a:solidFill>
                  <a:srgbClr val="1B2437"/>
                </a:solidFill>
              </a:defRPr>
            </a:pPr>
            <a:r>
              <a:t>Demo dataset: Acme Digital(Team) — 3 Projects , active sprints, Kanban flow Todo → Done.</a:t>
            </a:r>
          </a:p>
        </p:txBody>
      </p:sp>
      <p:sp>
        <p:nvSpPr>
          <p:cNvPr id="94" name="Slide Number Placeholder 0"/>
          <p:cNvSpPr txBox="1"/>
          <p:nvPr>
            <p:ph type="sldNum" sz="quarter" idx="4294967295"/>
          </p:nvPr>
        </p:nvSpPr>
        <p:spPr>
          <a:xfrm>
            <a:off x="11351979" y="6381750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 txBox="1"/>
          <p:nvPr>
            <p:ph type="title"/>
          </p:nvPr>
        </p:nvSpPr>
        <p:spPr>
          <a:xfrm>
            <a:off x="639762" y="365125"/>
            <a:ext cx="10880726" cy="6858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3400">
                <a:solidFill>
                  <a:srgbClr val="15233F"/>
                </a:solidFill>
              </a:defRPr>
            </a:lvl1pPr>
          </a:lstStyle>
          <a:p>
            <a:pPr/>
            <a:r>
              <a:t>Problem &amp; Solution</a:t>
            </a:r>
          </a:p>
        </p:txBody>
      </p:sp>
      <p:sp>
        <p:nvSpPr>
          <p:cNvPr id="97" name="THE PROBLEM header"/>
          <p:cNvSpPr/>
          <p:nvPr/>
        </p:nvSpPr>
        <p:spPr>
          <a:xfrm>
            <a:off x="639762" y="1782762"/>
            <a:ext cx="5303838" cy="547688"/>
          </a:xfrm>
          <a:prstGeom prst="roundRect">
            <a:avLst>
              <a:gd name="adj" fmla="val 13333"/>
            </a:avLst>
          </a:prstGeom>
          <a:solidFill>
            <a:srgbClr val="15233F"/>
          </a:solidFill>
          <a:ln w="12700">
            <a:solidFill>
              <a:srgbClr val="15233F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98" name="Text 3"/>
          <p:cNvSpPr txBox="1"/>
          <p:nvPr/>
        </p:nvSpPr>
        <p:spPr>
          <a:xfrm>
            <a:off x="914400" y="1952029"/>
            <a:ext cx="4754563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60" sz="1600">
                <a:solidFill>
                  <a:srgbClr val="FFFFFF"/>
                </a:solidFill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99" name="THE PROBLEM item 1"/>
          <p:cNvSpPr/>
          <p:nvPr/>
        </p:nvSpPr>
        <p:spPr>
          <a:xfrm>
            <a:off x="639762" y="2559050"/>
            <a:ext cx="5303838" cy="100647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00" name="THE PROBLEM icon 1 circle"/>
          <p:cNvSpPr/>
          <p:nvPr/>
        </p:nvSpPr>
        <p:spPr>
          <a:xfrm>
            <a:off x="914400" y="2833687"/>
            <a:ext cx="457200" cy="457201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101" name="THE PROBLEM icon 1" descr="THE PROBLEM icon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1400" y="2962275"/>
            <a:ext cx="201613" cy="200025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Text 6"/>
          <p:cNvSpPr txBox="1"/>
          <p:nvPr/>
        </p:nvSpPr>
        <p:spPr>
          <a:xfrm>
            <a:off x="1600200" y="2830710"/>
            <a:ext cx="4114800" cy="463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B2437"/>
                </a:solidFill>
              </a:defRPr>
            </a:lvl1pPr>
          </a:lstStyle>
          <a:p>
            <a:pPr/>
            <a:r>
              <a:t>Tasks live in chat &amp; spreadsheets — no single source of truth</a:t>
            </a:r>
          </a:p>
        </p:txBody>
      </p:sp>
      <p:sp>
        <p:nvSpPr>
          <p:cNvPr id="103" name="THE PROBLEM item 2"/>
          <p:cNvSpPr/>
          <p:nvPr/>
        </p:nvSpPr>
        <p:spPr>
          <a:xfrm>
            <a:off x="639762" y="3748087"/>
            <a:ext cx="5303838" cy="1006476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04" name="THE PROBLEM icon 2 circle"/>
          <p:cNvSpPr/>
          <p:nvPr/>
        </p:nvSpPr>
        <p:spPr>
          <a:xfrm>
            <a:off x="914400" y="4022725"/>
            <a:ext cx="457200" cy="4572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105" name="THE PROBLEM icon 2" descr="THE PROBLEM icon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1400" y="4151312"/>
            <a:ext cx="201613" cy="200026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Text 9"/>
          <p:cNvSpPr txBox="1"/>
          <p:nvPr/>
        </p:nvSpPr>
        <p:spPr>
          <a:xfrm>
            <a:off x="1600200" y="4146748"/>
            <a:ext cx="411480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B2437"/>
                </a:solidFill>
              </a:defRPr>
            </a:lvl1pPr>
          </a:lstStyle>
          <a:p>
            <a:pPr/>
            <a:r>
              <a:t>Sprints and ownership are unclear</a:t>
            </a:r>
          </a:p>
        </p:txBody>
      </p:sp>
      <p:sp>
        <p:nvSpPr>
          <p:cNvPr id="107" name="THE PROBLEM item 3"/>
          <p:cNvSpPr/>
          <p:nvPr/>
        </p:nvSpPr>
        <p:spPr>
          <a:xfrm>
            <a:off x="639762" y="4937125"/>
            <a:ext cx="5303838" cy="100488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08" name="THE PROBLEM icon 3 circle"/>
          <p:cNvSpPr/>
          <p:nvPr/>
        </p:nvSpPr>
        <p:spPr>
          <a:xfrm>
            <a:off x="914400" y="5211762"/>
            <a:ext cx="457200" cy="457201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109" name="THE PROBLEM icon 3" descr="THE PROBLEM icon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1400" y="5338762"/>
            <a:ext cx="201613" cy="201613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Text 12"/>
          <p:cNvSpPr txBox="1"/>
          <p:nvPr/>
        </p:nvSpPr>
        <p:spPr>
          <a:xfrm>
            <a:off x="1600200" y="5335785"/>
            <a:ext cx="4114800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B2437"/>
                </a:solidFill>
              </a:defRPr>
            </a:lvl1pPr>
          </a:lstStyle>
          <a:p>
            <a:pPr/>
            <a:r>
              <a:t>Everyone can change structure — or no one can</a:t>
            </a:r>
          </a:p>
        </p:txBody>
      </p:sp>
      <p:sp>
        <p:nvSpPr>
          <p:cNvPr id="111" name="OUR SOLUTION header"/>
          <p:cNvSpPr/>
          <p:nvPr/>
        </p:nvSpPr>
        <p:spPr>
          <a:xfrm>
            <a:off x="6216650" y="1782762"/>
            <a:ext cx="5303838" cy="547688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12" name="Text 14"/>
          <p:cNvSpPr txBox="1"/>
          <p:nvPr/>
        </p:nvSpPr>
        <p:spPr>
          <a:xfrm>
            <a:off x="6491287" y="1952029"/>
            <a:ext cx="4754563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60" sz="1600">
                <a:solidFill>
                  <a:srgbClr val="FFFFFF"/>
                </a:solidFill>
              </a:defRPr>
            </a:lvl1pPr>
          </a:lstStyle>
          <a:p>
            <a:pPr/>
            <a:r>
              <a:t>OUR SOLUTION</a:t>
            </a:r>
          </a:p>
        </p:txBody>
      </p:sp>
      <p:sp>
        <p:nvSpPr>
          <p:cNvPr id="113" name="OUR SOLUTION item 1"/>
          <p:cNvSpPr/>
          <p:nvPr/>
        </p:nvSpPr>
        <p:spPr>
          <a:xfrm>
            <a:off x="6216650" y="2559050"/>
            <a:ext cx="5303838" cy="100647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14" name="OUR SOLUTION icon 1 circle"/>
          <p:cNvSpPr/>
          <p:nvPr/>
        </p:nvSpPr>
        <p:spPr>
          <a:xfrm>
            <a:off x="6491287" y="2833687"/>
            <a:ext cx="457201" cy="45720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115" name="OUR SOLUTION icon 1" descr="OUR SOLUTION icon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19875" y="2962275"/>
            <a:ext cx="200025" cy="200025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Text 17"/>
          <p:cNvSpPr txBox="1"/>
          <p:nvPr/>
        </p:nvSpPr>
        <p:spPr>
          <a:xfrm>
            <a:off x="7177087" y="2957710"/>
            <a:ext cx="4114801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B2437"/>
                </a:solidFill>
              </a:defRPr>
            </a:lvl1pPr>
          </a:lstStyle>
          <a:p>
            <a:pPr/>
            <a:r>
              <a:t>One API gateway + JWT-secured microservices</a:t>
            </a:r>
          </a:p>
        </p:txBody>
      </p:sp>
      <p:sp>
        <p:nvSpPr>
          <p:cNvPr id="117" name="OUR SOLUTION item 2"/>
          <p:cNvSpPr/>
          <p:nvPr/>
        </p:nvSpPr>
        <p:spPr>
          <a:xfrm>
            <a:off x="6216650" y="3748087"/>
            <a:ext cx="5303838" cy="1006476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18" name="OUR SOLUTION icon 2 circle"/>
          <p:cNvSpPr/>
          <p:nvPr/>
        </p:nvSpPr>
        <p:spPr>
          <a:xfrm>
            <a:off x="6491287" y="4022725"/>
            <a:ext cx="457201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119" name="OUR SOLUTION icon 2" descr="OUR SOLUTION icon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19875" y="4151312"/>
            <a:ext cx="200025" cy="200026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Text 20"/>
          <p:cNvSpPr txBox="1"/>
          <p:nvPr/>
        </p:nvSpPr>
        <p:spPr>
          <a:xfrm>
            <a:off x="7177087" y="4146748"/>
            <a:ext cx="41148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B2437"/>
                </a:solidFill>
              </a:defRPr>
            </a:lvl1pPr>
          </a:lstStyle>
          <a:p>
            <a:pPr/>
            <a:r>
              <a:t>Projects, sprints, Kanban, notifications</a:t>
            </a:r>
          </a:p>
        </p:txBody>
      </p:sp>
      <p:sp>
        <p:nvSpPr>
          <p:cNvPr id="121" name="OUR SOLUTION item 3"/>
          <p:cNvSpPr/>
          <p:nvPr/>
        </p:nvSpPr>
        <p:spPr>
          <a:xfrm>
            <a:off x="6216650" y="4937125"/>
            <a:ext cx="5303838" cy="100488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22" name="OUR SOLUTION icon 3 circle"/>
          <p:cNvSpPr/>
          <p:nvPr/>
        </p:nvSpPr>
        <p:spPr>
          <a:xfrm>
            <a:off x="6491287" y="5211762"/>
            <a:ext cx="457201" cy="45720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123" name="OUR SOLUTION icon 3" descr="OUR SOLUTION icon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19875" y="5338762"/>
            <a:ext cx="200025" cy="201613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Text 23"/>
          <p:cNvSpPr txBox="1"/>
          <p:nvPr/>
        </p:nvSpPr>
        <p:spPr>
          <a:xfrm>
            <a:off x="7177087" y="5335785"/>
            <a:ext cx="4114801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B2437"/>
                </a:solidFill>
              </a:defRPr>
            </a:lvl1pPr>
          </a:lstStyle>
          <a:p>
            <a:pPr/>
            <a:r>
              <a:t>Admin vs User roles; assignee gets project access</a:t>
            </a:r>
          </a:p>
        </p:txBody>
      </p:sp>
      <p:sp>
        <p:nvSpPr>
          <p:cNvPr id="125" name="Slide Number Placeholder 0"/>
          <p:cNvSpPr txBox="1"/>
          <p:nvPr>
            <p:ph type="sldNum" sz="quarter" idx="4294967295"/>
          </p:nvPr>
        </p:nvSpPr>
        <p:spPr>
          <a:xfrm>
            <a:off x="11351979" y="6381750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 txBox="1"/>
          <p:nvPr>
            <p:ph type="title"/>
          </p:nvPr>
        </p:nvSpPr>
        <p:spPr>
          <a:xfrm>
            <a:off x="639762" y="365125"/>
            <a:ext cx="10880726" cy="6858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3400">
                <a:solidFill>
                  <a:srgbClr val="15233F"/>
                </a:solidFill>
              </a:defRPr>
            </a:lvl1pPr>
          </a:lstStyle>
          <a:p>
            <a:pPr/>
            <a:r>
              <a:t>High-Level Architecture</a:t>
            </a:r>
          </a:p>
        </p:txBody>
      </p:sp>
      <p:sp>
        <p:nvSpPr>
          <p:cNvPr id="128" name="Text 0"/>
          <p:cNvSpPr txBox="1"/>
          <p:nvPr>
            <p:ph type="body" sz="quarter" idx="1"/>
          </p:nvPr>
        </p:nvSpPr>
        <p:spPr>
          <a:xfrm>
            <a:off x="639762" y="1050925"/>
            <a:ext cx="10880726" cy="4111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300"/>
              </a:spcBef>
              <a:buSzTx/>
              <a:buNone/>
              <a:defRPr sz="1600">
                <a:solidFill>
                  <a:srgbClr val="64748B"/>
                </a:solidFill>
              </a:defRPr>
            </a:lvl1pPr>
          </a:lstStyle>
          <a:p>
            <a:pPr/>
            <a:r>
              <a:t>Client → Gateway → Microservices → Databases</a:t>
            </a:r>
          </a:p>
        </p:txBody>
      </p:sp>
      <p:sp>
        <p:nvSpPr>
          <p:cNvPr id="129" name="React SPA box"/>
          <p:cNvSpPr/>
          <p:nvPr/>
        </p:nvSpPr>
        <p:spPr>
          <a:xfrm>
            <a:off x="4356100" y="1736725"/>
            <a:ext cx="3475038" cy="82232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30" name="Text 3"/>
          <p:cNvSpPr txBox="1"/>
          <p:nvPr/>
        </p:nvSpPr>
        <p:spPr>
          <a:xfrm>
            <a:off x="4356100" y="1907158"/>
            <a:ext cx="3475038" cy="481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/>
            </a:pPr>
            <a:r>
              <a:t>React SPA</a:t>
            </a:r>
          </a:p>
          <a:p>
            <a:pPr algn="ctr">
              <a:defRPr sz="1400">
                <a:solidFill>
                  <a:srgbClr val="64748B"/>
                </a:solidFill>
              </a:defRPr>
            </a:pPr>
            <a:r>
              <a:t>localhost:5173</a:t>
            </a:r>
          </a:p>
        </p:txBody>
      </p:sp>
      <p:sp>
        <p:nvSpPr>
          <p:cNvPr id="131" name="Flow arrow"/>
          <p:cNvSpPr/>
          <p:nvPr/>
        </p:nvSpPr>
        <p:spPr>
          <a:xfrm>
            <a:off x="6094412" y="2559050"/>
            <a:ext cx="1" cy="366713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32" name="Gateway box"/>
          <p:cNvSpPr/>
          <p:nvPr/>
        </p:nvSpPr>
        <p:spPr>
          <a:xfrm>
            <a:off x="3898900" y="2925762"/>
            <a:ext cx="4389438" cy="822326"/>
          </a:xfrm>
          <a:prstGeom prst="roundRect">
            <a:avLst>
              <a:gd name="adj" fmla="val 8889"/>
            </a:avLst>
          </a:prstGeom>
          <a:solidFill>
            <a:srgbClr val="15233F"/>
          </a:solidFill>
          <a:ln w="12700">
            <a:solidFill>
              <a:srgbClr val="15233F"/>
            </a:solidFill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33" name="Text 6"/>
          <p:cNvSpPr txBox="1"/>
          <p:nvPr/>
        </p:nvSpPr>
        <p:spPr>
          <a:xfrm>
            <a:off x="3898900" y="3096195"/>
            <a:ext cx="4389438" cy="481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Ocelot API Gateway</a:t>
            </a:r>
          </a:p>
          <a:p>
            <a:pPr algn="ctr">
              <a:defRPr sz="1400">
                <a:solidFill>
                  <a:srgbClr val="CBD5E1"/>
                </a:solidFill>
              </a:defRPr>
            </a:pPr>
            <a:r>
              <a:t>localhost:5204</a:t>
            </a:r>
          </a:p>
        </p:txBody>
      </p:sp>
      <p:sp>
        <p:nvSpPr>
          <p:cNvPr id="134" name="Flow arrow"/>
          <p:cNvSpPr/>
          <p:nvPr/>
        </p:nvSpPr>
        <p:spPr>
          <a:xfrm>
            <a:off x="6094412" y="3748087"/>
            <a:ext cx="1" cy="366713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35" name="Services panel"/>
          <p:cNvSpPr/>
          <p:nvPr/>
        </p:nvSpPr>
        <p:spPr>
          <a:xfrm>
            <a:off x="639762" y="4114800"/>
            <a:ext cx="1088072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36" name="Auth service"/>
          <p:cNvSpPr/>
          <p:nvPr/>
        </p:nvSpPr>
        <p:spPr>
          <a:xfrm>
            <a:off x="1004887" y="4297362"/>
            <a:ext cx="1169988" cy="547688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37" name="Text 10"/>
          <p:cNvSpPr txBox="1"/>
          <p:nvPr/>
        </p:nvSpPr>
        <p:spPr>
          <a:xfrm>
            <a:off x="1004887" y="4476526"/>
            <a:ext cx="116998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Auth</a:t>
            </a:r>
          </a:p>
        </p:txBody>
      </p:sp>
      <p:sp>
        <p:nvSpPr>
          <p:cNvPr id="138" name="Project service"/>
          <p:cNvSpPr/>
          <p:nvPr/>
        </p:nvSpPr>
        <p:spPr>
          <a:xfrm>
            <a:off x="2286000" y="4297362"/>
            <a:ext cx="1169988" cy="547688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39" name="Text 12"/>
          <p:cNvSpPr txBox="1"/>
          <p:nvPr/>
        </p:nvSpPr>
        <p:spPr>
          <a:xfrm>
            <a:off x="2286000" y="4476526"/>
            <a:ext cx="116998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Project</a:t>
            </a:r>
          </a:p>
        </p:txBody>
      </p:sp>
      <p:sp>
        <p:nvSpPr>
          <p:cNvPr id="140" name="Task service"/>
          <p:cNvSpPr/>
          <p:nvPr/>
        </p:nvSpPr>
        <p:spPr>
          <a:xfrm>
            <a:off x="3565525" y="4297362"/>
            <a:ext cx="1169988" cy="547688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41" name="Text 14"/>
          <p:cNvSpPr txBox="1"/>
          <p:nvPr/>
        </p:nvSpPr>
        <p:spPr>
          <a:xfrm>
            <a:off x="3565525" y="4476526"/>
            <a:ext cx="116998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Task</a:t>
            </a:r>
          </a:p>
        </p:txBody>
      </p:sp>
      <p:sp>
        <p:nvSpPr>
          <p:cNvPr id="142" name="Comment service"/>
          <p:cNvSpPr/>
          <p:nvPr/>
        </p:nvSpPr>
        <p:spPr>
          <a:xfrm>
            <a:off x="4845050" y="4297362"/>
            <a:ext cx="1171575" cy="547688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43" name="Text 16"/>
          <p:cNvSpPr txBox="1"/>
          <p:nvPr/>
        </p:nvSpPr>
        <p:spPr>
          <a:xfrm>
            <a:off x="4845050" y="4476526"/>
            <a:ext cx="1171575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Comment</a:t>
            </a:r>
          </a:p>
        </p:txBody>
      </p:sp>
      <p:sp>
        <p:nvSpPr>
          <p:cNvPr id="144" name="File service"/>
          <p:cNvSpPr/>
          <p:nvPr/>
        </p:nvSpPr>
        <p:spPr>
          <a:xfrm>
            <a:off x="6126162" y="4297362"/>
            <a:ext cx="1169988" cy="547688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45" name="Text 18"/>
          <p:cNvSpPr txBox="1"/>
          <p:nvPr/>
        </p:nvSpPr>
        <p:spPr>
          <a:xfrm>
            <a:off x="6126162" y="4476526"/>
            <a:ext cx="116998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File</a:t>
            </a:r>
          </a:p>
        </p:txBody>
      </p:sp>
      <p:sp>
        <p:nvSpPr>
          <p:cNvPr id="146" name="Notification service"/>
          <p:cNvSpPr/>
          <p:nvPr/>
        </p:nvSpPr>
        <p:spPr>
          <a:xfrm>
            <a:off x="7405687" y="4297362"/>
            <a:ext cx="1169988" cy="547688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47" name="Text 20"/>
          <p:cNvSpPr txBox="1"/>
          <p:nvPr/>
        </p:nvSpPr>
        <p:spPr>
          <a:xfrm>
            <a:off x="7405687" y="4476526"/>
            <a:ext cx="116998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Notification</a:t>
            </a:r>
          </a:p>
        </p:txBody>
      </p:sp>
      <p:sp>
        <p:nvSpPr>
          <p:cNvPr id="148" name="Dashboard service"/>
          <p:cNvSpPr/>
          <p:nvPr/>
        </p:nvSpPr>
        <p:spPr>
          <a:xfrm>
            <a:off x="8686800" y="4297362"/>
            <a:ext cx="1169988" cy="547688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49" name="Text 22"/>
          <p:cNvSpPr txBox="1"/>
          <p:nvPr/>
        </p:nvSpPr>
        <p:spPr>
          <a:xfrm>
            <a:off x="8686800" y="4476526"/>
            <a:ext cx="116998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Dashboard</a:t>
            </a:r>
          </a:p>
        </p:txBody>
      </p:sp>
      <p:sp>
        <p:nvSpPr>
          <p:cNvPr id="150" name="AI service"/>
          <p:cNvSpPr/>
          <p:nvPr/>
        </p:nvSpPr>
        <p:spPr>
          <a:xfrm>
            <a:off x="9966325" y="4297362"/>
            <a:ext cx="1169988" cy="547688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51" name="Text 24"/>
          <p:cNvSpPr txBox="1"/>
          <p:nvPr/>
        </p:nvSpPr>
        <p:spPr>
          <a:xfrm>
            <a:off x="9966325" y="4476526"/>
            <a:ext cx="116998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AI</a:t>
            </a:r>
          </a:p>
        </p:txBody>
      </p:sp>
      <p:sp>
        <p:nvSpPr>
          <p:cNvPr id="152" name="Flow arrow"/>
          <p:cNvSpPr/>
          <p:nvPr/>
        </p:nvSpPr>
        <p:spPr>
          <a:xfrm>
            <a:off x="6094412" y="5029200"/>
            <a:ext cx="1" cy="319088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53" name="Databases bar"/>
          <p:cNvSpPr/>
          <p:nvPr/>
        </p:nvSpPr>
        <p:spPr>
          <a:xfrm>
            <a:off x="639762" y="5348287"/>
            <a:ext cx="10880726" cy="731838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54" name="Text 27"/>
          <p:cNvSpPr txBox="1"/>
          <p:nvPr/>
        </p:nvSpPr>
        <p:spPr>
          <a:xfrm>
            <a:off x="639762" y="5593382"/>
            <a:ext cx="10880726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SQL Server  |  MongoDB (comments , feedback) </a:t>
            </a:r>
          </a:p>
        </p:txBody>
      </p:sp>
      <p:sp>
        <p:nvSpPr>
          <p:cNvPr id="155" name="Slide Number Placeholder 0"/>
          <p:cNvSpPr txBox="1"/>
          <p:nvPr>
            <p:ph type="sldNum" sz="quarter" idx="4294967295"/>
          </p:nvPr>
        </p:nvSpPr>
        <p:spPr>
          <a:xfrm>
            <a:off x="11351979" y="6381750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 txBox="1"/>
          <p:nvPr>
            <p:ph type="title"/>
          </p:nvPr>
        </p:nvSpPr>
        <p:spPr>
          <a:xfrm>
            <a:off x="639762" y="365125"/>
            <a:ext cx="10880726" cy="6858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3400">
                <a:solidFill>
                  <a:srgbClr val="15233F"/>
                </a:solidFill>
              </a:defRPr>
            </a:lvl1pPr>
          </a:lstStyle>
          <a:p>
            <a:pPr/>
            <a:r>
              <a:t>Technology Stack</a:t>
            </a:r>
          </a:p>
        </p:txBody>
      </p:sp>
      <p:graphicFrame>
        <p:nvGraphicFramePr>
          <p:cNvPr id="158" name="Table 1"/>
          <p:cNvGraphicFramePr/>
          <p:nvPr/>
        </p:nvGraphicFramePr>
        <p:xfrm>
          <a:off x="639762" y="1554162"/>
          <a:ext cx="10880726" cy="44831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468562"/>
                <a:gridCol w="8412162"/>
              </a:tblGrid>
              <a:tr h="593725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Technologies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5233F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15233F"/>
                          </a:solidFill>
                        </a:rPr>
                        <a:t>Frontend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1B2437"/>
                          </a:solidFill>
                        </a:rPr>
                        <a:t>React, Vite, Axios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15233F"/>
                          </a:solidFill>
                        </a:rPr>
                        <a:t>API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1B2437"/>
                          </a:solidFill>
                        </a:rPr>
                        <a:t>ASP.NET Core 10, Ocelot Gateway, JWT auth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15233F"/>
                          </a:solidFill>
                        </a:rPr>
                        <a:t>Services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1B2437"/>
                          </a:solidFill>
                        </a:rPr>
                        <a:t>Auth, Project, Task, Comment, File, Notification, Dashboard, AI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15233F"/>
                          </a:solidFill>
                        </a:rPr>
                        <a:t>Data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1B2437"/>
                          </a:solidFill>
                        </a:rPr>
                        <a:t>EF Core + SQL Server; MongoDB (comments, feedback)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15233F"/>
                          </a:solidFill>
                        </a:rPr>
                        <a:t>DevOps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1B2437"/>
                          </a:solidFill>
                        </a:rPr>
                        <a:t>Docker Compose, GitHub Actions CI, xUnit tests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Slide Number Placeholder 0"/>
          <p:cNvSpPr txBox="1"/>
          <p:nvPr>
            <p:ph type="sldNum" sz="quarter" idx="4294967295"/>
          </p:nvPr>
        </p:nvSpPr>
        <p:spPr>
          <a:xfrm>
            <a:off x="11351979" y="6381750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 txBox="1"/>
          <p:nvPr>
            <p:ph type="title"/>
          </p:nvPr>
        </p:nvSpPr>
        <p:spPr>
          <a:xfrm>
            <a:off x="639762" y="365125"/>
            <a:ext cx="10880726" cy="6858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3400">
                <a:solidFill>
                  <a:srgbClr val="15233F"/>
                </a:solidFill>
              </a:defRPr>
            </a:lvl1pPr>
          </a:lstStyle>
          <a:p>
            <a:pPr/>
            <a:r>
              <a:t>Microservices</a:t>
            </a:r>
          </a:p>
        </p:txBody>
      </p:sp>
      <p:sp>
        <p:nvSpPr>
          <p:cNvPr id="162" name="Text 0"/>
          <p:cNvSpPr txBox="1"/>
          <p:nvPr>
            <p:ph type="body" sz="quarter" idx="1"/>
          </p:nvPr>
        </p:nvSpPr>
        <p:spPr>
          <a:xfrm>
            <a:off x="639762" y="1050925"/>
            <a:ext cx="10880726" cy="4111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300"/>
              </a:spcBef>
              <a:buSzTx/>
              <a:buNone/>
              <a:defRPr sz="1600">
                <a:solidFill>
                  <a:srgbClr val="64748B"/>
                </a:solidFill>
              </a:defRPr>
            </a:lvl1pPr>
          </a:lstStyle>
          <a:p>
            <a:pPr/>
            <a:r>
              <a:t>Each service owns one business capability</a:t>
            </a:r>
          </a:p>
        </p:txBody>
      </p:sp>
      <p:sp>
        <p:nvSpPr>
          <p:cNvPr id="163" name="Auth card"/>
          <p:cNvSpPr/>
          <p:nvPr/>
        </p:nvSpPr>
        <p:spPr>
          <a:xfrm>
            <a:off x="639762" y="1782762"/>
            <a:ext cx="2560638" cy="2011363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64" name="Auth icon circle"/>
          <p:cNvSpPr/>
          <p:nvPr/>
        </p:nvSpPr>
        <p:spPr>
          <a:xfrm>
            <a:off x="914399" y="2057399"/>
            <a:ext cx="547689" cy="54768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165" name="Auth icon" descr="Auth icon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6800" y="2209800"/>
            <a:ext cx="241300" cy="241300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Text 4"/>
          <p:cNvSpPr txBox="1"/>
          <p:nvPr/>
        </p:nvSpPr>
        <p:spPr>
          <a:xfrm>
            <a:off x="914400" y="2800598"/>
            <a:ext cx="2101850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Auth</a:t>
            </a:r>
          </a:p>
        </p:txBody>
      </p:sp>
      <p:sp>
        <p:nvSpPr>
          <p:cNvPr id="167" name="Text 5"/>
          <p:cNvSpPr txBox="1"/>
          <p:nvPr/>
        </p:nvSpPr>
        <p:spPr>
          <a:xfrm>
            <a:off x="914400" y="3154362"/>
            <a:ext cx="210185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B2437"/>
                </a:solidFill>
              </a:defRPr>
            </a:lvl1pPr>
          </a:lstStyle>
          <a:p>
            <a:pPr/>
            <a:r>
              <a:t>Login, JWT, profiles</a:t>
            </a:r>
          </a:p>
        </p:txBody>
      </p:sp>
      <p:sp>
        <p:nvSpPr>
          <p:cNvPr id="168" name="Project card"/>
          <p:cNvSpPr/>
          <p:nvPr/>
        </p:nvSpPr>
        <p:spPr>
          <a:xfrm>
            <a:off x="3413125" y="1782762"/>
            <a:ext cx="2560638" cy="2011363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69" name="Project icon circle"/>
          <p:cNvSpPr/>
          <p:nvPr/>
        </p:nvSpPr>
        <p:spPr>
          <a:xfrm>
            <a:off x="3687762" y="2057399"/>
            <a:ext cx="547689" cy="54768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170" name="Project icon" descr="Project ic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840162" y="2209800"/>
            <a:ext cx="242888" cy="241300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Text 8"/>
          <p:cNvSpPr txBox="1"/>
          <p:nvPr/>
        </p:nvSpPr>
        <p:spPr>
          <a:xfrm>
            <a:off x="3687762" y="2800598"/>
            <a:ext cx="210185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Project</a:t>
            </a:r>
          </a:p>
        </p:txBody>
      </p:sp>
      <p:sp>
        <p:nvSpPr>
          <p:cNvPr id="172" name="Text 9"/>
          <p:cNvSpPr txBox="1"/>
          <p:nvPr/>
        </p:nvSpPr>
        <p:spPr>
          <a:xfrm>
            <a:off x="3687762" y="3154362"/>
            <a:ext cx="210185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B2437"/>
                </a:solidFill>
              </a:defRPr>
            </a:lvl1pPr>
          </a:lstStyle>
          <a:p>
            <a:pPr/>
            <a:r>
              <a:t>Teams, projects, sprints, access</a:t>
            </a:r>
          </a:p>
        </p:txBody>
      </p:sp>
      <p:sp>
        <p:nvSpPr>
          <p:cNvPr id="173" name="Task card"/>
          <p:cNvSpPr/>
          <p:nvPr/>
        </p:nvSpPr>
        <p:spPr>
          <a:xfrm>
            <a:off x="6186487" y="1782762"/>
            <a:ext cx="2560638" cy="2011363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74" name="Task icon circle"/>
          <p:cNvSpPr/>
          <p:nvPr/>
        </p:nvSpPr>
        <p:spPr>
          <a:xfrm>
            <a:off x="6461124" y="2057399"/>
            <a:ext cx="547689" cy="54768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175" name="Task icon" descr="Task ic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615112" y="2209800"/>
            <a:ext cx="241301" cy="241300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Text 12"/>
          <p:cNvSpPr txBox="1"/>
          <p:nvPr/>
        </p:nvSpPr>
        <p:spPr>
          <a:xfrm>
            <a:off x="6461125" y="2800598"/>
            <a:ext cx="2103438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Task</a:t>
            </a:r>
          </a:p>
        </p:txBody>
      </p:sp>
      <p:sp>
        <p:nvSpPr>
          <p:cNvPr id="177" name="Text 13"/>
          <p:cNvSpPr txBox="1"/>
          <p:nvPr/>
        </p:nvSpPr>
        <p:spPr>
          <a:xfrm>
            <a:off x="6461125" y="3154362"/>
            <a:ext cx="2103438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B2437"/>
                </a:solidFill>
              </a:defRPr>
            </a:lvl1pPr>
          </a:lstStyle>
          <a:p>
            <a:pPr/>
            <a:r>
              <a:t>Tasks, subtasks, Kanban, assign</a:t>
            </a:r>
          </a:p>
        </p:txBody>
      </p:sp>
      <p:sp>
        <p:nvSpPr>
          <p:cNvPr id="178" name="Comment card"/>
          <p:cNvSpPr/>
          <p:nvPr/>
        </p:nvSpPr>
        <p:spPr>
          <a:xfrm>
            <a:off x="8959850" y="1782762"/>
            <a:ext cx="2560638" cy="2011363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79" name="Comment icon circle"/>
          <p:cNvSpPr/>
          <p:nvPr/>
        </p:nvSpPr>
        <p:spPr>
          <a:xfrm>
            <a:off x="9234487" y="2057399"/>
            <a:ext cx="549276" cy="54768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180" name="Comment icon" descr="Comment icon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388475" y="2209800"/>
            <a:ext cx="241300" cy="241300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Text 16"/>
          <p:cNvSpPr txBox="1"/>
          <p:nvPr/>
        </p:nvSpPr>
        <p:spPr>
          <a:xfrm>
            <a:off x="9234487" y="2800598"/>
            <a:ext cx="2103438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Comment</a:t>
            </a:r>
          </a:p>
        </p:txBody>
      </p:sp>
      <p:sp>
        <p:nvSpPr>
          <p:cNvPr id="182" name="Text 17"/>
          <p:cNvSpPr txBox="1"/>
          <p:nvPr/>
        </p:nvSpPr>
        <p:spPr>
          <a:xfrm>
            <a:off x="9234487" y="3154362"/>
            <a:ext cx="210343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B2437"/>
                </a:solidFill>
              </a:defRPr>
            </a:lvl1pPr>
          </a:lstStyle>
          <a:p>
            <a:pPr/>
            <a:r>
              <a:t>MongoDB </a:t>
            </a:r>
          </a:p>
        </p:txBody>
      </p:sp>
      <p:sp>
        <p:nvSpPr>
          <p:cNvPr id="183" name="File card"/>
          <p:cNvSpPr/>
          <p:nvPr/>
        </p:nvSpPr>
        <p:spPr>
          <a:xfrm>
            <a:off x="639762" y="4022725"/>
            <a:ext cx="2560638" cy="2011363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84" name="File icon circle"/>
          <p:cNvSpPr/>
          <p:nvPr/>
        </p:nvSpPr>
        <p:spPr>
          <a:xfrm>
            <a:off x="914399" y="4297362"/>
            <a:ext cx="547689" cy="54768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185" name="File icon" descr="File icon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066800" y="4449762"/>
            <a:ext cx="241300" cy="242888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Text 20"/>
          <p:cNvSpPr txBox="1"/>
          <p:nvPr/>
        </p:nvSpPr>
        <p:spPr>
          <a:xfrm>
            <a:off x="914400" y="5041354"/>
            <a:ext cx="2101850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File</a:t>
            </a:r>
          </a:p>
        </p:txBody>
      </p:sp>
      <p:sp>
        <p:nvSpPr>
          <p:cNvPr id="187" name="Text 21"/>
          <p:cNvSpPr txBox="1"/>
          <p:nvPr/>
        </p:nvSpPr>
        <p:spPr>
          <a:xfrm>
            <a:off x="914400" y="5394325"/>
            <a:ext cx="2101850" cy="18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B2437"/>
                </a:solidFill>
              </a:defRPr>
            </a:lvl1pPr>
          </a:lstStyle>
          <a:p>
            <a:pPr/>
            <a:r>
              <a:t>Per-task uploads</a:t>
            </a:r>
          </a:p>
        </p:txBody>
      </p:sp>
      <p:sp>
        <p:nvSpPr>
          <p:cNvPr id="188" name="Notify card"/>
          <p:cNvSpPr/>
          <p:nvPr/>
        </p:nvSpPr>
        <p:spPr>
          <a:xfrm>
            <a:off x="3413125" y="4022725"/>
            <a:ext cx="2560638" cy="2011363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89" name="Notify icon circle"/>
          <p:cNvSpPr/>
          <p:nvPr/>
        </p:nvSpPr>
        <p:spPr>
          <a:xfrm>
            <a:off x="3687762" y="4297362"/>
            <a:ext cx="547689" cy="54768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190" name="Notify icon" descr="Notify icon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840162" y="4449762"/>
            <a:ext cx="242888" cy="242888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Text 24"/>
          <p:cNvSpPr txBox="1"/>
          <p:nvPr/>
        </p:nvSpPr>
        <p:spPr>
          <a:xfrm>
            <a:off x="3687762" y="5041354"/>
            <a:ext cx="210185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Notify</a:t>
            </a:r>
          </a:p>
        </p:txBody>
      </p:sp>
      <p:sp>
        <p:nvSpPr>
          <p:cNvPr id="192" name="Text 25"/>
          <p:cNvSpPr txBox="1"/>
          <p:nvPr/>
        </p:nvSpPr>
        <p:spPr>
          <a:xfrm>
            <a:off x="3687762" y="5394325"/>
            <a:ext cx="2101851" cy="18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B2437"/>
                </a:solidFill>
              </a:defRPr>
            </a:lvl1pPr>
          </a:lstStyle>
          <a:p>
            <a:pPr/>
            <a:r>
              <a:t>In-app alerts</a:t>
            </a:r>
          </a:p>
        </p:txBody>
      </p:sp>
      <p:sp>
        <p:nvSpPr>
          <p:cNvPr id="193" name="Dashboard card"/>
          <p:cNvSpPr/>
          <p:nvPr/>
        </p:nvSpPr>
        <p:spPr>
          <a:xfrm>
            <a:off x="6186487" y="4022725"/>
            <a:ext cx="2560638" cy="2011363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94" name="Dashboard icon circle"/>
          <p:cNvSpPr/>
          <p:nvPr/>
        </p:nvSpPr>
        <p:spPr>
          <a:xfrm>
            <a:off x="6461124" y="4297362"/>
            <a:ext cx="547689" cy="54768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195" name="Dashboard icon" descr="Dashboard icon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615112" y="4449762"/>
            <a:ext cx="241301" cy="242888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Text 28"/>
          <p:cNvSpPr txBox="1"/>
          <p:nvPr/>
        </p:nvSpPr>
        <p:spPr>
          <a:xfrm>
            <a:off x="6461125" y="5041354"/>
            <a:ext cx="2103438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Dashboard</a:t>
            </a:r>
          </a:p>
        </p:txBody>
      </p:sp>
      <p:sp>
        <p:nvSpPr>
          <p:cNvPr id="197" name="Text 29"/>
          <p:cNvSpPr txBox="1"/>
          <p:nvPr/>
        </p:nvSpPr>
        <p:spPr>
          <a:xfrm>
            <a:off x="6461125" y="5394325"/>
            <a:ext cx="2103438" cy="18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B2437"/>
                </a:solidFill>
              </a:defRPr>
            </a:lvl1pPr>
          </a:lstStyle>
          <a:p>
            <a:pPr/>
            <a:r>
              <a:t>Aggregated metrics</a:t>
            </a:r>
          </a:p>
        </p:txBody>
      </p:sp>
      <p:sp>
        <p:nvSpPr>
          <p:cNvPr id="198" name="AI card"/>
          <p:cNvSpPr/>
          <p:nvPr/>
        </p:nvSpPr>
        <p:spPr>
          <a:xfrm>
            <a:off x="8959850" y="4022725"/>
            <a:ext cx="2560638" cy="2011363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199" name="AI icon circle"/>
          <p:cNvSpPr/>
          <p:nvPr/>
        </p:nvSpPr>
        <p:spPr>
          <a:xfrm>
            <a:off x="9234487" y="4297362"/>
            <a:ext cx="549276" cy="54768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200" name="AI icon" descr="AI icon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9388475" y="4449762"/>
            <a:ext cx="241300" cy="242888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Text 32"/>
          <p:cNvSpPr txBox="1"/>
          <p:nvPr/>
        </p:nvSpPr>
        <p:spPr>
          <a:xfrm>
            <a:off x="9234487" y="5041354"/>
            <a:ext cx="2103438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AI</a:t>
            </a:r>
          </a:p>
        </p:txBody>
      </p:sp>
      <p:sp>
        <p:nvSpPr>
          <p:cNvPr id="202" name="Text 33"/>
          <p:cNvSpPr txBox="1"/>
          <p:nvPr/>
        </p:nvSpPr>
        <p:spPr>
          <a:xfrm>
            <a:off x="9234487" y="5394325"/>
            <a:ext cx="2103438" cy="18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B2437"/>
                </a:solidFill>
              </a:defRPr>
            </a:lvl1pPr>
          </a:lstStyle>
          <a:p>
            <a:pPr/>
            <a:r>
              <a:t>Optional Gemini chat</a:t>
            </a:r>
          </a:p>
        </p:txBody>
      </p:sp>
      <p:sp>
        <p:nvSpPr>
          <p:cNvPr id="203" name="Slide Number Placeholder 0"/>
          <p:cNvSpPr txBox="1"/>
          <p:nvPr>
            <p:ph type="sldNum" sz="quarter" idx="4294967295"/>
          </p:nvPr>
        </p:nvSpPr>
        <p:spPr>
          <a:xfrm>
            <a:off x="11351979" y="6381750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 txBox="1"/>
          <p:nvPr>
            <p:ph type="title"/>
          </p:nvPr>
        </p:nvSpPr>
        <p:spPr>
          <a:xfrm>
            <a:off x="639762" y="365125"/>
            <a:ext cx="10880726" cy="6858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3400">
                <a:solidFill>
                  <a:srgbClr val="15233F"/>
                </a:solidFill>
              </a:defRPr>
            </a:lvl1pPr>
          </a:lstStyle>
          <a:p>
            <a:pPr/>
            <a:r>
              <a:t>Request Flow</a:t>
            </a:r>
          </a:p>
        </p:txBody>
      </p:sp>
      <p:sp>
        <p:nvSpPr>
          <p:cNvPr id="206" name="Timeline"/>
          <p:cNvSpPr/>
          <p:nvPr/>
        </p:nvSpPr>
        <p:spPr>
          <a:xfrm>
            <a:off x="1004887" y="2651125"/>
            <a:ext cx="8961438" cy="0"/>
          </a:xfrm>
          <a:prstGeom prst="line">
            <a:avLst/>
          </a:prstGeom>
          <a:ln w="38100">
            <a:solidFill>
              <a:srgbClr val="CBD5E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07" name="Browser card"/>
          <p:cNvSpPr/>
          <p:nvPr/>
        </p:nvSpPr>
        <p:spPr>
          <a:xfrm>
            <a:off x="639762" y="3382962"/>
            <a:ext cx="1919288" cy="164623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08" name="Step 1 badge"/>
          <p:cNvSpPr/>
          <p:nvPr/>
        </p:nvSpPr>
        <p:spPr>
          <a:xfrm>
            <a:off x="639762" y="2286000"/>
            <a:ext cx="731838" cy="7302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09" name="Text 5"/>
          <p:cNvSpPr txBox="1"/>
          <p:nvPr/>
        </p:nvSpPr>
        <p:spPr>
          <a:xfrm>
            <a:off x="639762" y="2500610"/>
            <a:ext cx="731838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10" name="Text 6"/>
          <p:cNvSpPr txBox="1"/>
          <p:nvPr/>
        </p:nvSpPr>
        <p:spPr>
          <a:xfrm>
            <a:off x="868362" y="3692773"/>
            <a:ext cx="1508126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Browser</a:t>
            </a:r>
          </a:p>
        </p:txBody>
      </p:sp>
      <p:sp>
        <p:nvSpPr>
          <p:cNvPr id="211" name="Text 7"/>
          <p:cNvSpPr txBox="1"/>
          <p:nvPr/>
        </p:nvSpPr>
        <p:spPr>
          <a:xfrm>
            <a:off x="868362" y="4068762"/>
            <a:ext cx="1508126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B2437"/>
                </a:solidFill>
              </a:defRPr>
            </a:lvl1pPr>
          </a:lstStyle>
          <a:p>
            <a:pPr/>
            <a:r>
              <a:t>Sends PATCH + JWT</a:t>
            </a:r>
          </a:p>
        </p:txBody>
      </p:sp>
      <p:sp>
        <p:nvSpPr>
          <p:cNvPr id="212" name="Gateway card"/>
          <p:cNvSpPr/>
          <p:nvPr/>
        </p:nvSpPr>
        <p:spPr>
          <a:xfrm>
            <a:off x="2879725" y="3382962"/>
            <a:ext cx="1920875" cy="164623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13" name="Step 2 badge"/>
          <p:cNvSpPr/>
          <p:nvPr/>
        </p:nvSpPr>
        <p:spPr>
          <a:xfrm>
            <a:off x="2879725" y="2286000"/>
            <a:ext cx="731838" cy="7302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14" name="Text 10"/>
          <p:cNvSpPr txBox="1"/>
          <p:nvPr/>
        </p:nvSpPr>
        <p:spPr>
          <a:xfrm>
            <a:off x="2879725" y="2500610"/>
            <a:ext cx="731838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15" name="Text 11"/>
          <p:cNvSpPr txBox="1"/>
          <p:nvPr/>
        </p:nvSpPr>
        <p:spPr>
          <a:xfrm>
            <a:off x="3108325" y="3692773"/>
            <a:ext cx="1508125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Gateway</a:t>
            </a:r>
          </a:p>
        </p:txBody>
      </p:sp>
      <p:sp>
        <p:nvSpPr>
          <p:cNvPr id="216" name="Text 12"/>
          <p:cNvSpPr txBox="1"/>
          <p:nvPr/>
        </p:nvSpPr>
        <p:spPr>
          <a:xfrm>
            <a:off x="3108325" y="4068762"/>
            <a:ext cx="1508125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B2437"/>
                </a:solidFill>
              </a:defRPr>
            </a:lvl1pPr>
          </a:lstStyle>
          <a:p>
            <a:pPr/>
            <a:r>
              <a:t>Routes to Task service</a:t>
            </a:r>
          </a:p>
        </p:txBody>
      </p:sp>
      <p:sp>
        <p:nvSpPr>
          <p:cNvPr id="217" name="Task API card"/>
          <p:cNvSpPr/>
          <p:nvPr/>
        </p:nvSpPr>
        <p:spPr>
          <a:xfrm>
            <a:off x="5119687" y="3382962"/>
            <a:ext cx="1920876" cy="164623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18" name="Step 3 badge"/>
          <p:cNvSpPr/>
          <p:nvPr/>
        </p:nvSpPr>
        <p:spPr>
          <a:xfrm>
            <a:off x="5119687" y="2286000"/>
            <a:ext cx="731838" cy="7302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19" name="Text 15"/>
          <p:cNvSpPr txBox="1"/>
          <p:nvPr/>
        </p:nvSpPr>
        <p:spPr>
          <a:xfrm>
            <a:off x="5119687" y="2500610"/>
            <a:ext cx="731838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20" name="Text 16"/>
          <p:cNvSpPr txBox="1"/>
          <p:nvPr/>
        </p:nvSpPr>
        <p:spPr>
          <a:xfrm>
            <a:off x="5348287" y="3692773"/>
            <a:ext cx="1509714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Task API</a:t>
            </a:r>
          </a:p>
        </p:txBody>
      </p:sp>
      <p:sp>
        <p:nvSpPr>
          <p:cNvPr id="221" name="Text 17"/>
          <p:cNvSpPr txBox="1"/>
          <p:nvPr/>
        </p:nvSpPr>
        <p:spPr>
          <a:xfrm>
            <a:off x="5348287" y="4068762"/>
            <a:ext cx="1509714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B2437"/>
                </a:solidFill>
              </a:defRPr>
            </a:lvl1pPr>
          </a:lstStyle>
          <a:p>
            <a:pPr/>
            <a:r>
              <a:t>Checks assignee / creator</a:t>
            </a:r>
          </a:p>
        </p:txBody>
      </p:sp>
      <p:sp>
        <p:nvSpPr>
          <p:cNvPr id="222" name="Project API card"/>
          <p:cNvSpPr/>
          <p:nvPr/>
        </p:nvSpPr>
        <p:spPr>
          <a:xfrm>
            <a:off x="7359650" y="3382962"/>
            <a:ext cx="1920875" cy="164623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23" name="Step 4 badge"/>
          <p:cNvSpPr/>
          <p:nvPr/>
        </p:nvSpPr>
        <p:spPr>
          <a:xfrm>
            <a:off x="7359650" y="2286000"/>
            <a:ext cx="731838" cy="7302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24" name="Text 20"/>
          <p:cNvSpPr txBox="1"/>
          <p:nvPr/>
        </p:nvSpPr>
        <p:spPr>
          <a:xfrm>
            <a:off x="7359650" y="2500610"/>
            <a:ext cx="731838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25" name="Text 21"/>
          <p:cNvSpPr txBox="1"/>
          <p:nvPr/>
        </p:nvSpPr>
        <p:spPr>
          <a:xfrm>
            <a:off x="7588249" y="3692773"/>
            <a:ext cx="1509714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Project API</a:t>
            </a:r>
          </a:p>
        </p:txBody>
      </p:sp>
      <p:sp>
        <p:nvSpPr>
          <p:cNvPr id="226" name="Text 22"/>
          <p:cNvSpPr txBox="1"/>
          <p:nvPr/>
        </p:nvSpPr>
        <p:spPr>
          <a:xfrm>
            <a:off x="7588249" y="4068762"/>
            <a:ext cx="1509714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B2437"/>
                </a:solidFill>
              </a:defRPr>
            </a:lvl1pPr>
          </a:lstStyle>
          <a:p>
            <a:pPr/>
            <a:r>
              <a:t>Validates project access</a:t>
            </a:r>
          </a:p>
        </p:txBody>
      </p:sp>
      <p:sp>
        <p:nvSpPr>
          <p:cNvPr id="227" name="UI card"/>
          <p:cNvSpPr/>
          <p:nvPr/>
        </p:nvSpPr>
        <p:spPr>
          <a:xfrm>
            <a:off x="9601200" y="3382962"/>
            <a:ext cx="1919288" cy="164623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28" name="Step 5 badge"/>
          <p:cNvSpPr/>
          <p:nvPr/>
        </p:nvSpPr>
        <p:spPr>
          <a:xfrm>
            <a:off x="9601200" y="2286000"/>
            <a:ext cx="730250" cy="7302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29" name="Text 25"/>
          <p:cNvSpPr txBox="1"/>
          <p:nvPr/>
        </p:nvSpPr>
        <p:spPr>
          <a:xfrm>
            <a:off x="9601200" y="2500610"/>
            <a:ext cx="73025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30" name="Text 26"/>
          <p:cNvSpPr txBox="1"/>
          <p:nvPr/>
        </p:nvSpPr>
        <p:spPr>
          <a:xfrm>
            <a:off x="9829800" y="3692773"/>
            <a:ext cx="1508125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UI</a:t>
            </a:r>
          </a:p>
        </p:txBody>
      </p:sp>
      <p:sp>
        <p:nvSpPr>
          <p:cNvPr id="231" name="Text 27"/>
          <p:cNvSpPr txBox="1"/>
          <p:nvPr/>
        </p:nvSpPr>
        <p:spPr>
          <a:xfrm>
            <a:off x="9829800" y="4068762"/>
            <a:ext cx="1508125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B2437"/>
                </a:solidFill>
              </a:defRPr>
            </a:lvl1pPr>
          </a:lstStyle>
          <a:p>
            <a:pPr/>
            <a:r>
              <a:t>Board refreshes</a:t>
            </a:r>
          </a:p>
        </p:txBody>
      </p:sp>
      <p:sp>
        <p:nvSpPr>
          <p:cNvPr id="232" name="Slide Number Placeholder 0"/>
          <p:cNvSpPr txBox="1"/>
          <p:nvPr>
            <p:ph type="sldNum" sz="quarter" idx="4294967295"/>
          </p:nvPr>
        </p:nvSpPr>
        <p:spPr>
          <a:xfrm>
            <a:off x="11351979" y="6381750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 0"/>
          <p:cNvSpPr txBox="1"/>
          <p:nvPr>
            <p:ph type="title"/>
          </p:nvPr>
        </p:nvSpPr>
        <p:spPr>
          <a:xfrm>
            <a:off x="639762" y="365125"/>
            <a:ext cx="10880726" cy="6858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3400">
                <a:solidFill>
                  <a:srgbClr val="15233F"/>
                </a:solidFill>
              </a:defRPr>
            </a:lvl1pPr>
          </a:lstStyle>
          <a:p>
            <a:pPr/>
            <a:r>
              <a:t>Roles &amp; Access Control</a:t>
            </a:r>
          </a:p>
        </p:txBody>
      </p:sp>
      <p:sp>
        <p:nvSpPr>
          <p:cNvPr id="235" name="Access rules panel"/>
          <p:cNvSpPr/>
          <p:nvPr/>
        </p:nvSpPr>
        <p:spPr>
          <a:xfrm>
            <a:off x="639762" y="1644650"/>
            <a:ext cx="5943601" cy="4024313"/>
          </a:xfrm>
          <a:prstGeom prst="roundRect">
            <a:avLst>
              <a:gd name="adj" fmla="val 1819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36" name="Text 2"/>
          <p:cNvSpPr txBox="1"/>
          <p:nvPr/>
        </p:nvSpPr>
        <p:spPr>
          <a:xfrm>
            <a:off x="1004887" y="2685082"/>
            <a:ext cx="5211763" cy="1943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228600" indent="-228600">
              <a:spcBef>
                <a:spcPts val="1600"/>
              </a:spcBef>
              <a:buSzPct val="100000"/>
              <a:buChar char="•"/>
              <a:defRPr>
                <a:solidFill>
                  <a:srgbClr val="1B2437"/>
                </a:solidFill>
              </a:defRPr>
            </a:pPr>
            <a:r>
              <a:t>Admin: teams, projects, sprints, members, assign &amp; delete tasks.</a:t>
            </a:r>
          </a:p>
          <a:p>
            <a:pPr marL="228600" indent="-228600">
              <a:spcBef>
                <a:spcPts val="1600"/>
              </a:spcBef>
              <a:buSzPct val="100000"/>
              <a:buChar char="•"/>
              <a:defRPr>
                <a:solidFill>
                  <a:srgbClr val="1B2437"/>
                </a:solidFill>
              </a:defRPr>
            </a:pPr>
            <a:r>
              <a:t>User: Kanban, comments, files on permitted projects.</a:t>
            </a:r>
          </a:p>
          <a:p>
            <a:pPr marL="228600" indent="-228600">
              <a:spcBef>
                <a:spcPts val="1600"/>
              </a:spcBef>
              <a:buSzPct val="100000"/>
              <a:buChar char="•"/>
              <a:defRPr>
                <a:solidFill>
                  <a:srgbClr val="1B2437"/>
                </a:solidFill>
              </a:defRPr>
            </a:pPr>
            <a:r>
              <a:t>Access via team membership OR task assignment.</a:t>
            </a:r>
          </a:p>
          <a:p>
            <a:pPr marL="228600" indent="-228600">
              <a:spcBef>
                <a:spcPts val="1000"/>
              </a:spcBef>
              <a:buSzPct val="100000"/>
              <a:buChar char="•"/>
              <a:defRPr>
                <a:solidFill>
                  <a:srgbClr val="1B2437"/>
                </a:solidFill>
              </a:defRPr>
            </a:pPr>
            <a:r>
              <a:t>UI hides admin controls for non-admin JWT role.</a:t>
            </a:r>
          </a:p>
        </p:txBody>
      </p:sp>
      <p:sp>
        <p:nvSpPr>
          <p:cNvPr id="237" name="Admin role card"/>
          <p:cNvSpPr/>
          <p:nvPr/>
        </p:nvSpPr>
        <p:spPr>
          <a:xfrm>
            <a:off x="6948487" y="1644650"/>
            <a:ext cx="2195513" cy="4024313"/>
          </a:xfrm>
          <a:prstGeom prst="roundRect">
            <a:avLst>
              <a:gd name="adj" fmla="val 3333"/>
            </a:avLst>
          </a:prstGeom>
          <a:solidFill>
            <a:srgbClr val="15233F"/>
          </a:solidFill>
          <a:ln w="12700">
            <a:solidFill>
              <a:srgbClr val="15233F"/>
            </a:solidFill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38" name="Admin icon circle"/>
          <p:cNvSpPr/>
          <p:nvPr/>
        </p:nvSpPr>
        <p:spPr>
          <a:xfrm>
            <a:off x="7223125" y="2147887"/>
            <a:ext cx="822325" cy="82391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239" name="Admin icon" descr="Admin icon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453312" y="2378075"/>
            <a:ext cx="361951" cy="361950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Text 5"/>
          <p:cNvSpPr txBox="1"/>
          <p:nvPr/>
        </p:nvSpPr>
        <p:spPr>
          <a:xfrm>
            <a:off x="7223125" y="3411884"/>
            <a:ext cx="1736725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Admin</a:t>
            </a:r>
          </a:p>
        </p:txBody>
      </p:sp>
      <p:sp>
        <p:nvSpPr>
          <p:cNvPr id="241" name="Text 6"/>
          <p:cNvSpPr txBox="1"/>
          <p:nvPr/>
        </p:nvSpPr>
        <p:spPr>
          <a:xfrm>
            <a:off x="7223125" y="3930650"/>
            <a:ext cx="1690688" cy="4179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Structure &amp; assignment</a:t>
            </a:r>
          </a:p>
        </p:txBody>
      </p:sp>
      <p:sp>
        <p:nvSpPr>
          <p:cNvPr id="242" name="User role card"/>
          <p:cNvSpPr/>
          <p:nvPr/>
        </p:nvSpPr>
        <p:spPr>
          <a:xfrm>
            <a:off x="9326562" y="1644650"/>
            <a:ext cx="2193926" cy="4024313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43" name="User icon circle"/>
          <p:cNvSpPr/>
          <p:nvPr/>
        </p:nvSpPr>
        <p:spPr>
          <a:xfrm>
            <a:off x="9601200" y="2147887"/>
            <a:ext cx="822325" cy="82391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244" name="User icon" descr="User ic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831387" y="2378075"/>
            <a:ext cx="361951" cy="361950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Text 9"/>
          <p:cNvSpPr txBox="1"/>
          <p:nvPr/>
        </p:nvSpPr>
        <p:spPr>
          <a:xfrm>
            <a:off x="9601200" y="3411884"/>
            <a:ext cx="1736725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User</a:t>
            </a:r>
          </a:p>
        </p:txBody>
      </p:sp>
      <p:sp>
        <p:nvSpPr>
          <p:cNvPr id="246" name="Text 10"/>
          <p:cNvSpPr txBox="1"/>
          <p:nvPr/>
        </p:nvSpPr>
        <p:spPr>
          <a:xfrm>
            <a:off x="9601200" y="3930650"/>
            <a:ext cx="1690688" cy="4179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Execution &amp; collaboration</a:t>
            </a:r>
          </a:p>
        </p:txBody>
      </p:sp>
      <p:sp>
        <p:nvSpPr>
          <p:cNvPr id="247" name="Slide Number Placeholder 0"/>
          <p:cNvSpPr txBox="1"/>
          <p:nvPr>
            <p:ph type="sldNum" sz="quarter" idx="4294967295"/>
          </p:nvPr>
        </p:nvSpPr>
        <p:spPr>
          <a:xfrm>
            <a:off x="11351979" y="6381750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 0"/>
          <p:cNvSpPr txBox="1"/>
          <p:nvPr>
            <p:ph type="title"/>
          </p:nvPr>
        </p:nvSpPr>
        <p:spPr>
          <a:xfrm>
            <a:off x="639762" y="365125"/>
            <a:ext cx="10880726" cy="6858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3400">
                <a:solidFill>
                  <a:srgbClr val="15233F"/>
                </a:solidFill>
              </a:defRPr>
            </a:lvl1pPr>
          </a:lstStyle>
          <a:p>
            <a:pPr/>
            <a:r>
              <a:t>Live Demo Script</a:t>
            </a:r>
          </a:p>
        </p:txBody>
      </p:sp>
      <p:sp>
        <p:nvSpPr>
          <p:cNvPr id="250" name="Text 0"/>
          <p:cNvSpPr txBox="1"/>
          <p:nvPr>
            <p:ph type="body" sz="quarter" idx="1"/>
          </p:nvPr>
        </p:nvSpPr>
        <p:spPr>
          <a:xfrm>
            <a:off x="639762" y="1050925"/>
            <a:ext cx="10880726" cy="4111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300"/>
              </a:spcBef>
              <a:buSzTx/>
              <a:buNone/>
              <a:defRPr sz="1600">
                <a:solidFill>
                  <a:srgbClr val="64748B"/>
                </a:solidFill>
              </a:defRPr>
            </a:lvl1pPr>
          </a:lstStyle>
          <a:p>
            <a:pPr/>
            <a:r>
              <a:t>Follow this order during the class presentation</a:t>
            </a:r>
          </a:p>
        </p:txBody>
      </p:sp>
      <p:sp>
        <p:nvSpPr>
          <p:cNvPr id="251" name="Step 1 row"/>
          <p:cNvSpPr/>
          <p:nvPr/>
        </p:nvSpPr>
        <p:spPr>
          <a:xfrm>
            <a:off x="639762" y="1782762"/>
            <a:ext cx="10880726" cy="749301"/>
          </a:xfrm>
          <a:prstGeom prst="roundRect">
            <a:avLst>
              <a:gd name="adj" fmla="val 975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52" name="Step 1 badge"/>
          <p:cNvSpPr/>
          <p:nvPr/>
        </p:nvSpPr>
        <p:spPr>
          <a:xfrm>
            <a:off x="868362" y="1955800"/>
            <a:ext cx="1096963" cy="4032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53" name="Text 4"/>
          <p:cNvSpPr txBox="1"/>
          <p:nvPr/>
        </p:nvSpPr>
        <p:spPr>
          <a:xfrm>
            <a:off x="868362" y="2062733"/>
            <a:ext cx="1096963" cy="18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Step 1</a:t>
            </a:r>
          </a:p>
        </p:txBody>
      </p:sp>
      <p:sp>
        <p:nvSpPr>
          <p:cNvPr id="254" name="Text 5"/>
          <p:cNvSpPr txBox="1"/>
          <p:nvPr/>
        </p:nvSpPr>
        <p:spPr>
          <a:xfrm>
            <a:off x="2286000" y="2036588"/>
            <a:ext cx="2011363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/>
            </a:lvl1pPr>
          </a:lstStyle>
          <a:p>
            <a:pPr/>
            <a:r>
              <a:t>Admin login</a:t>
            </a:r>
          </a:p>
        </p:txBody>
      </p:sp>
      <p:sp>
        <p:nvSpPr>
          <p:cNvPr id="255" name="Text 6"/>
          <p:cNvSpPr txBox="1"/>
          <p:nvPr/>
        </p:nvSpPr>
        <p:spPr>
          <a:xfrm>
            <a:off x="4387850" y="2052835"/>
            <a:ext cx="6950075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B2437"/>
                </a:solidFill>
              </a:defRPr>
            </a:lvl1pPr>
          </a:lstStyle>
          <a:p>
            <a:pPr/>
            <a:r>
              <a:t>admin@local.test — open Projects: Customer Mobile App, Web Portal, Analytics</a:t>
            </a:r>
          </a:p>
        </p:txBody>
      </p:sp>
      <p:sp>
        <p:nvSpPr>
          <p:cNvPr id="256" name="Step 2 row"/>
          <p:cNvSpPr/>
          <p:nvPr/>
        </p:nvSpPr>
        <p:spPr>
          <a:xfrm>
            <a:off x="639762" y="2624137"/>
            <a:ext cx="10880726" cy="749301"/>
          </a:xfrm>
          <a:prstGeom prst="roundRect">
            <a:avLst>
              <a:gd name="adj" fmla="val 975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57" name="Step 2 badge"/>
          <p:cNvSpPr/>
          <p:nvPr/>
        </p:nvSpPr>
        <p:spPr>
          <a:xfrm>
            <a:off x="868362" y="2797175"/>
            <a:ext cx="1096963" cy="4032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58" name="Text 9"/>
          <p:cNvSpPr txBox="1"/>
          <p:nvPr/>
        </p:nvSpPr>
        <p:spPr>
          <a:xfrm>
            <a:off x="868362" y="2903314"/>
            <a:ext cx="109696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Step 2</a:t>
            </a:r>
          </a:p>
        </p:txBody>
      </p:sp>
      <p:sp>
        <p:nvSpPr>
          <p:cNvPr id="259" name="Text 10"/>
          <p:cNvSpPr txBox="1"/>
          <p:nvPr/>
        </p:nvSpPr>
        <p:spPr>
          <a:xfrm>
            <a:off x="2286000" y="2877963"/>
            <a:ext cx="2011363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/>
            </a:lvl1pPr>
          </a:lstStyle>
          <a:p>
            <a:pPr/>
            <a:r>
              <a:t>Kanban</a:t>
            </a:r>
          </a:p>
        </p:txBody>
      </p:sp>
      <p:sp>
        <p:nvSpPr>
          <p:cNvPr id="260" name="Text 11"/>
          <p:cNvSpPr txBox="1"/>
          <p:nvPr/>
        </p:nvSpPr>
        <p:spPr>
          <a:xfrm>
            <a:off x="4387850" y="2894210"/>
            <a:ext cx="6950075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B2437"/>
                </a:solidFill>
              </a:defRPr>
            </a:lvl1pPr>
          </a:lstStyle>
          <a:p>
            <a:pPr/>
            <a:r>
              <a:t>Move task: Todo → InProgress → Testing → Done</a:t>
            </a:r>
          </a:p>
        </p:txBody>
      </p:sp>
      <p:sp>
        <p:nvSpPr>
          <p:cNvPr id="261" name="Step 3 row"/>
          <p:cNvSpPr/>
          <p:nvPr/>
        </p:nvSpPr>
        <p:spPr>
          <a:xfrm>
            <a:off x="639762" y="3465512"/>
            <a:ext cx="10880726" cy="749301"/>
          </a:xfrm>
          <a:prstGeom prst="roundRect">
            <a:avLst>
              <a:gd name="adj" fmla="val 975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62" name="Step 3 badge"/>
          <p:cNvSpPr/>
          <p:nvPr/>
        </p:nvSpPr>
        <p:spPr>
          <a:xfrm>
            <a:off x="868362" y="3638550"/>
            <a:ext cx="1096963" cy="4016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63" name="Text 14"/>
          <p:cNvSpPr txBox="1"/>
          <p:nvPr/>
        </p:nvSpPr>
        <p:spPr>
          <a:xfrm>
            <a:off x="868362" y="3744689"/>
            <a:ext cx="109696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Step 3</a:t>
            </a:r>
          </a:p>
        </p:txBody>
      </p:sp>
      <p:sp>
        <p:nvSpPr>
          <p:cNvPr id="264" name="Text 15"/>
          <p:cNvSpPr txBox="1"/>
          <p:nvPr/>
        </p:nvSpPr>
        <p:spPr>
          <a:xfrm>
            <a:off x="2286000" y="3719338"/>
            <a:ext cx="2011363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/>
            </a:lvl1pPr>
          </a:lstStyle>
          <a:p>
            <a:pPr/>
            <a:r>
              <a:t>Assign</a:t>
            </a:r>
          </a:p>
        </p:txBody>
      </p:sp>
      <p:sp>
        <p:nvSpPr>
          <p:cNvPr id="265" name="Text 16"/>
          <p:cNvSpPr txBox="1"/>
          <p:nvPr/>
        </p:nvSpPr>
        <p:spPr>
          <a:xfrm>
            <a:off x="4387850" y="3735585"/>
            <a:ext cx="6950075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B2437"/>
                </a:solidFill>
              </a:defRPr>
            </a:lvl1pPr>
          </a:lstStyle>
          <a:p>
            <a:pPr/>
            <a:r>
              <a:t>Admin assigns task; assignee gains project access automatically</a:t>
            </a:r>
          </a:p>
        </p:txBody>
      </p:sp>
      <p:sp>
        <p:nvSpPr>
          <p:cNvPr id="266" name="Step 4 row"/>
          <p:cNvSpPr/>
          <p:nvPr/>
        </p:nvSpPr>
        <p:spPr>
          <a:xfrm>
            <a:off x="639762" y="4305300"/>
            <a:ext cx="10880726" cy="750888"/>
          </a:xfrm>
          <a:prstGeom prst="roundRect">
            <a:avLst>
              <a:gd name="adj" fmla="val 975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67" name="Step 4 badge"/>
          <p:cNvSpPr/>
          <p:nvPr/>
        </p:nvSpPr>
        <p:spPr>
          <a:xfrm>
            <a:off x="868362" y="4479925"/>
            <a:ext cx="1096963" cy="4016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68" name="Text 19"/>
          <p:cNvSpPr txBox="1"/>
          <p:nvPr/>
        </p:nvSpPr>
        <p:spPr>
          <a:xfrm>
            <a:off x="868362" y="4586064"/>
            <a:ext cx="109696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Step 4</a:t>
            </a:r>
          </a:p>
        </p:txBody>
      </p:sp>
      <p:sp>
        <p:nvSpPr>
          <p:cNvPr id="269" name="Text 20"/>
          <p:cNvSpPr txBox="1"/>
          <p:nvPr/>
        </p:nvSpPr>
        <p:spPr>
          <a:xfrm>
            <a:off x="2286000" y="4560713"/>
            <a:ext cx="2011363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/>
            </a:lvl1pPr>
          </a:lstStyle>
          <a:p>
            <a:pPr/>
            <a:r>
              <a:t>User login</a:t>
            </a:r>
          </a:p>
        </p:txBody>
      </p:sp>
      <p:sp>
        <p:nvSpPr>
          <p:cNvPr id="270" name="Text 21"/>
          <p:cNvSpPr txBox="1"/>
          <p:nvPr/>
        </p:nvSpPr>
        <p:spPr>
          <a:xfrm>
            <a:off x="4387850" y="4576167"/>
            <a:ext cx="6950075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B2437"/>
                </a:solidFill>
              </a:defRPr>
            </a:lvl1pPr>
          </a:lstStyle>
          <a:p>
            <a:pPr/>
            <a:r>
              <a:t>user@local.test — task detail: subtasks, comments, files</a:t>
            </a:r>
          </a:p>
        </p:txBody>
      </p:sp>
      <p:sp>
        <p:nvSpPr>
          <p:cNvPr id="271" name="Step 5 row"/>
          <p:cNvSpPr/>
          <p:nvPr/>
        </p:nvSpPr>
        <p:spPr>
          <a:xfrm>
            <a:off x="639762" y="5146675"/>
            <a:ext cx="10880726" cy="750888"/>
          </a:xfrm>
          <a:prstGeom prst="roundRect">
            <a:avLst>
              <a:gd name="adj" fmla="val 975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72" name="Step 5 badge"/>
          <p:cNvSpPr/>
          <p:nvPr/>
        </p:nvSpPr>
        <p:spPr>
          <a:xfrm>
            <a:off x="868362" y="5321300"/>
            <a:ext cx="1096963" cy="4016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73" name="Text 24"/>
          <p:cNvSpPr txBox="1"/>
          <p:nvPr/>
        </p:nvSpPr>
        <p:spPr>
          <a:xfrm>
            <a:off x="868362" y="5427439"/>
            <a:ext cx="109696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Step 5</a:t>
            </a:r>
          </a:p>
        </p:txBody>
      </p:sp>
      <p:sp>
        <p:nvSpPr>
          <p:cNvPr id="274" name="Text 25"/>
          <p:cNvSpPr txBox="1"/>
          <p:nvPr/>
        </p:nvSpPr>
        <p:spPr>
          <a:xfrm>
            <a:off x="2286000" y="5401295"/>
            <a:ext cx="2011363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/>
            </a:lvl1pPr>
          </a:lstStyle>
          <a:p>
            <a:pPr/>
            <a:r>
              <a:t>Wrap-up</a:t>
            </a:r>
          </a:p>
        </p:txBody>
      </p:sp>
      <p:sp>
        <p:nvSpPr>
          <p:cNvPr id="275" name="Text 26"/>
          <p:cNvSpPr txBox="1"/>
          <p:nvPr/>
        </p:nvSpPr>
        <p:spPr>
          <a:xfrm>
            <a:off x="4387850" y="5417542"/>
            <a:ext cx="6950075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B2437"/>
                </a:solidFill>
              </a:defRPr>
            </a:lvl1pPr>
          </a:lstStyle>
          <a:p>
            <a:pPr/>
            <a:r>
              <a:t>Dashboard, notifications, mention scripts/seed-presentation-demo.ps1</a:t>
            </a:r>
          </a:p>
        </p:txBody>
      </p:sp>
      <p:sp>
        <p:nvSpPr>
          <p:cNvPr id="276" name="Slide Number Placeholder 0"/>
          <p:cNvSpPr txBox="1"/>
          <p:nvPr>
            <p:ph type="sldNum" sz="quarter" idx="4294967295"/>
          </p:nvPr>
        </p:nvSpPr>
        <p:spPr>
          <a:xfrm>
            <a:off x="11351979" y="6381750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0"/>
          <p:cNvSpPr txBox="1"/>
          <p:nvPr>
            <p:ph type="title"/>
          </p:nvPr>
        </p:nvSpPr>
        <p:spPr>
          <a:xfrm>
            <a:off x="639762" y="365125"/>
            <a:ext cx="10880726" cy="6858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3400">
                <a:solidFill>
                  <a:srgbClr val="15233F"/>
                </a:solidFill>
              </a:defRPr>
            </a:lvl1pPr>
          </a:lstStyle>
          <a:p>
            <a:pPr/>
            <a:r>
              <a:t>Engineering Quality</a:t>
            </a:r>
          </a:p>
        </p:txBody>
      </p:sp>
      <p:sp>
        <p:nvSpPr>
          <p:cNvPr id="279" name="Text 0"/>
          <p:cNvSpPr txBox="1"/>
          <p:nvPr>
            <p:ph type="body" sz="quarter" idx="1"/>
          </p:nvPr>
        </p:nvSpPr>
        <p:spPr>
          <a:xfrm>
            <a:off x="639762" y="1050925"/>
            <a:ext cx="10880726" cy="4111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300"/>
              </a:spcBef>
              <a:buSzTx/>
              <a:buNone/>
              <a:defRPr sz="1600">
                <a:solidFill>
                  <a:srgbClr val="64748B"/>
                </a:solidFill>
              </a:defRPr>
            </a:lvl1pPr>
          </a:lstStyle>
          <a:p>
            <a:pPr/>
            <a:r>
              <a:t>How we keep the system reliable</a:t>
            </a:r>
          </a:p>
        </p:txBody>
      </p:sp>
      <p:sp>
        <p:nvSpPr>
          <p:cNvPr id="280" name="Automated tests stat card"/>
          <p:cNvSpPr/>
          <p:nvPr/>
        </p:nvSpPr>
        <p:spPr>
          <a:xfrm>
            <a:off x="639762" y="1782762"/>
            <a:ext cx="2560638" cy="1600201"/>
          </a:xfrm>
          <a:prstGeom prst="roundRect">
            <a:avLst>
              <a:gd name="adj" fmla="val 4569"/>
            </a:avLst>
          </a:prstGeom>
          <a:solidFill>
            <a:srgbClr val="15233F"/>
          </a:solidFill>
          <a:ln w="12700">
            <a:solidFill>
              <a:srgbClr val="15233F"/>
            </a:solidFill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81" name="Text 3"/>
          <p:cNvSpPr txBox="1"/>
          <p:nvPr/>
        </p:nvSpPr>
        <p:spPr>
          <a:xfrm>
            <a:off x="914400" y="2024062"/>
            <a:ext cx="2011363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130+</a:t>
            </a:r>
          </a:p>
        </p:txBody>
      </p:sp>
      <p:sp>
        <p:nvSpPr>
          <p:cNvPr id="282" name="Text 4"/>
          <p:cNvSpPr txBox="1"/>
          <p:nvPr/>
        </p:nvSpPr>
        <p:spPr>
          <a:xfrm>
            <a:off x="914400" y="2743200"/>
            <a:ext cx="2011363" cy="18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CBD5E1"/>
                </a:solidFill>
              </a:defRPr>
            </a:lvl1pPr>
          </a:lstStyle>
          <a:p>
            <a:pPr/>
            <a:r>
              <a:t>Automated tests</a:t>
            </a:r>
          </a:p>
        </p:txBody>
      </p:sp>
      <p:sp>
        <p:nvSpPr>
          <p:cNvPr id="283" name="Microservices stat card"/>
          <p:cNvSpPr/>
          <p:nvPr/>
        </p:nvSpPr>
        <p:spPr>
          <a:xfrm>
            <a:off x="3413125" y="1782762"/>
            <a:ext cx="2560638" cy="1600201"/>
          </a:xfrm>
          <a:prstGeom prst="roundRect">
            <a:avLst>
              <a:gd name="adj" fmla="val 4569"/>
            </a:avLst>
          </a:prstGeom>
          <a:solidFill>
            <a:srgbClr val="15233F"/>
          </a:solidFill>
          <a:ln w="12700">
            <a:solidFill>
              <a:srgbClr val="15233F"/>
            </a:solidFill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84" name="Text 6"/>
          <p:cNvSpPr txBox="1"/>
          <p:nvPr/>
        </p:nvSpPr>
        <p:spPr>
          <a:xfrm>
            <a:off x="3687762" y="2024062"/>
            <a:ext cx="2011363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85" name="Text 7"/>
          <p:cNvSpPr txBox="1"/>
          <p:nvPr/>
        </p:nvSpPr>
        <p:spPr>
          <a:xfrm>
            <a:off x="3687762" y="2743200"/>
            <a:ext cx="2011363" cy="18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CBD5E1"/>
                </a:solidFill>
              </a:defRPr>
            </a:lvl1pPr>
          </a:lstStyle>
          <a:p>
            <a:pPr/>
            <a:r>
              <a:t>Microservices</a:t>
            </a:r>
          </a:p>
        </p:txBody>
      </p:sp>
      <p:sp>
        <p:nvSpPr>
          <p:cNvPr id="286" name="GitHub Actions stat card"/>
          <p:cNvSpPr/>
          <p:nvPr/>
        </p:nvSpPr>
        <p:spPr>
          <a:xfrm>
            <a:off x="6186487" y="1782762"/>
            <a:ext cx="2560638" cy="1600201"/>
          </a:xfrm>
          <a:prstGeom prst="roundRect">
            <a:avLst>
              <a:gd name="adj" fmla="val 4569"/>
            </a:avLst>
          </a:prstGeom>
          <a:solidFill>
            <a:srgbClr val="15233F"/>
          </a:solidFill>
          <a:ln w="12700">
            <a:solidFill>
              <a:srgbClr val="15233F"/>
            </a:solidFill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87" name="Text 9"/>
          <p:cNvSpPr txBox="1"/>
          <p:nvPr/>
        </p:nvSpPr>
        <p:spPr>
          <a:xfrm>
            <a:off x="6461125" y="2024062"/>
            <a:ext cx="2011363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CI</a:t>
            </a:r>
          </a:p>
        </p:txBody>
      </p:sp>
      <p:sp>
        <p:nvSpPr>
          <p:cNvPr id="288" name="Text 10"/>
          <p:cNvSpPr txBox="1"/>
          <p:nvPr/>
        </p:nvSpPr>
        <p:spPr>
          <a:xfrm>
            <a:off x="6461125" y="2743200"/>
            <a:ext cx="2011363" cy="18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CBD5E1"/>
                </a:solidFill>
              </a:defRPr>
            </a:lvl1pPr>
          </a:lstStyle>
          <a:p>
            <a:pPr/>
            <a:r>
              <a:t>GitHub Actions</a:t>
            </a:r>
          </a:p>
        </p:txBody>
      </p:sp>
      <p:sp>
        <p:nvSpPr>
          <p:cNvPr id="289" name="Monorepo slnx stat card"/>
          <p:cNvSpPr/>
          <p:nvPr/>
        </p:nvSpPr>
        <p:spPr>
          <a:xfrm>
            <a:off x="8959850" y="1782762"/>
            <a:ext cx="2560638" cy="1600201"/>
          </a:xfrm>
          <a:prstGeom prst="roundRect">
            <a:avLst>
              <a:gd name="adj" fmla="val 4569"/>
            </a:avLst>
          </a:prstGeom>
          <a:solidFill>
            <a:srgbClr val="15233F"/>
          </a:solidFill>
          <a:ln w="12700">
            <a:solidFill>
              <a:srgbClr val="15233F"/>
            </a:solidFill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90" name="Text 12"/>
          <p:cNvSpPr txBox="1"/>
          <p:nvPr/>
        </p:nvSpPr>
        <p:spPr>
          <a:xfrm>
            <a:off x="9234487" y="2024062"/>
            <a:ext cx="2011363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91" name="Text 13"/>
          <p:cNvSpPr txBox="1"/>
          <p:nvPr/>
        </p:nvSpPr>
        <p:spPr>
          <a:xfrm>
            <a:off x="9234487" y="2743200"/>
            <a:ext cx="2011363" cy="18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CBD5E1"/>
                </a:solidFill>
              </a:defRPr>
            </a:lvl1pPr>
          </a:lstStyle>
          <a:p>
            <a:pPr/>
            <a:r>
              <a:t>Monorepo slnx</a:t>
            </a:r>
          </a:p>
        </p:txBody>
      </p:sp>
      <p:sp>
        <p:nvSpPr>
          <p:cNvPr id="292" name="Quality practices panel"/>
          <p:cNvSpPr/>
          <p:nvPr/>
        </p:nvSpPr>
        <p:spPr>
          <a:xfrm>
            <a:off x="639762" y="3748087"/>
            <a:ext cx="10880726" cy="2332038"/>
          </a:xfrm>
          <a:prstGeom prst="roundRect">
            <a:avLst>
              <a:gd name="adj" fmla="val 3139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93" name="Text 15"/>
          <p:cNvSpPr txBox="1"/>
          <p:nvPr/>
        </p:nvSpPr>
        <p:spPr>
          <a:xfrm>
            <a:off x="1004887" y="4238029"/>
            <a:ext cx="10150476" cy="1352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228600" indent="-228600">
              <a:spcBef>
                <a:spcPts val="1000"/>
              </a:spcBef>
              <a:buSzPct val="100000"/>
              <a:buChar char="•"/>
              <a:defRPr sz="1600">
                <a:solidFill>
                  <a:srgbClr val="1B2437"/>
                </a:solidFill>
              </a:defRPr>
            </a:pPr>
            <a:r>
              <a:t>xUnit tests across Auth, Task, Project, Gateway, and shared libraries.</a:t>
            </a:r>
          </a:p>
          <a:p>
            <a:pPr marL="228600" indent="-228600">
              <a:spcBef>
                <a:spcPts val="1000"/>
              </a:spcBef>
              <a:buSzPct val="100000"/>
              <a:buChar char="•"/>
              <a:defRPr sz="1600">
                <a:solidFill>
                  <a:srgbClr val="1B2437"/>
                </a:solidFill>
              </a:defRPr>
            </a:pPr>
            <a:r>
              <a:t>Pull requests run backend + frontend CI before merge.</a:t>
            </a:r>
          </a:p>
          <a:p>
            <a:pPr marL="228600" indent="-228600">
              <a:spcBef>
                <a:spcPts val="1000"/>
              </a:spcBef>
              <a:buSzPct val="100000"/>
              <a:buChar char="•"/>
              <a:defRPr sz="1600">
                <a:solidFill>
                  <a:srgbClr val="1B2437"/>
                </a:solidFill>
              </a:defRPr>
            </a:pPr>
            <a:r>
              <a:t>Docker Compose for local SQL/Mongo/start-local.ps1 for one-command startup.</a:t>
            </a:r>
          </a:p>
          <a:p>
            <a:pPr marL="228600" indent="-228600">
              <a:spcBef>
                <a:spcPts val="1000"/>
              </a:spcBef>
              <a:buSzPct val="100000"/>
              <a:buChar char="•"/>
              <a:defRPr sz="1600">
                <a:solidFill>
                  <a:srgbClr val="1B2437"/>
                </a:solidFill>
              </a:defRPr>
            </a:pPr>
            <a:r>
              <a:t>Docs: README, LOCAL_DEVELOPMENT.md, gateway at :5204 for all API calls.</a:t>
            </a:r>
          </a:p>
        </p:txBody>
      </p:sp>
      <p:sp>
        <p:nvSpPr>
          <p:cNvPr id="294" name="Slide Number Placeholder 0"/>
          <p:cNvSpPr txBox="1"/>
          <p:nvPr>
            <p:ph type="sldNum" sz="quarter" idx="4294967295"/>
          </p:nvPr>
        </p:nvSpPr>
        <p:spPr>
          <a:xfrm>
            <a:off x="11287611" y="6381750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 0"/>
          <p:cNvSpPr txBox="1"/>
          <p:nvPr>
            <p:ph type="title"/>
          </p:nvPr>
        </p:nvSpPr>
        <p:spPr>
          <a:xfrm>
            <a:off x="639762" y="365125"/>
            <a:ext cx="10880726" cy="6858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3400">
                <a:solidFill>
                  <a:srgbClr val="15233F"/>
                </a:solidFill>
              </a:defRPr>
            </a:lvl1pPr>
          </a:lstStyle>
          <a:p>
            <a:pPr/>
            <a:r>
              <a:t>Challenges Faced</a:t>
            </a:r>
          </a:p>
        </p:txBody>
      </p:sp>
      <p:sp>
        <p:nvSpPr>
          <p:cNvPr id="297" name="Text 0"/>
          <p:cNvSpPr txBox="1"/>
          <p:nvPr>
            <p:ph type="body" sz="quarter" idx="1"/>
          </p:nvPr>
        </p:nvSpPr>
        <p:spPr>
          <a:xfrm>
            <a:off x="639762" y="1050925"/>
            <a:ext cx="10880726" cy="4111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300"/>
              </a:spcBef>
              <a:buSzTx/>
              <a:buNone/>
              <a:defRPr sz="1600">
                <a:solidFill>
                  <a:srgbClr val="64748B"/>
                </a:solidFill>
              </a:defRPr>
            </a:lvl1pPr>
          </a:lstStyle>
          <a:p>
            <a:pPr/>
            <a:r>
              <a:t>What we ran into and how we solved it</a:t>
            </a:r>
          </a:p>
        </p:txBody>
      </p:sp>
      <p:sp>
        <p:nvSpPr>
          <p:cNvPr id="298" name="Merge Conflicts card"/>
          <p:cNvSpPr/>
          <p:nvPr/>
        </p:nvSpPr>
        <p:spPr>
          <a:xfrm>
            <a:off x="639762" y="1782762"/>
            <a:ext cx="5303838" cy="4251326"/>
          </a:xfrm>
          <a:prstGeom prst="roundRect">
            <a:avLst>
              <a:gd name="adj" fmla="val 1722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299" name="Merge Conflicts icon circle"/>
          <p:cNvSpPr/>
          <p:nvPr/>
        </p:nvSpPr>
        <p:spPr>
          <a:xfrm>
            <a:off x="958850" y="2101850"/>
            <a:ext cx="641350" cy="6413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300" name="Merge Conflicts icon" descr="Merge Conflicts icon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8237" y="2281237"/>
            <a:ext cx="282576" cy="282576"/>
          </a:xfrm>
          <a:prstGeom prst="rect">
            <a:avLst/>
          </a:prstGeom>
          <a:ln w="12700">
            <a:miter lim="400000"/>
          </a:ln>
        </p:spPr>
      </p:pic>
      <p:sp>
        <p:nvSpPr>
          <p:cNvPr id="301" name="Text 4"/>
          <p:cNvSpPr txBox="1"/>
          <p:nvPr/>
        </p:nvSpPr>
        <p:spPr>
          <a:xfrm>
            <a:off x="1828800" y="2274763"/>
            <a:ext cx="3840163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/>
            </a:lvl1pPr>
          </a:lstStyle>
          <a:p>
            <a:pPr/>
            <a:r>
              <a:t>Merge Conflicts</a:t>
            </a:r>
          </a:p>
        </p:txBody>
      </p:sp>
      <p:sp>
        <p:nvSpPr>
          <p:cNvPr id="302" name="Text 5"/>
          <p:cNvSpPr txBox="1"/>
          <p:nvPr/>
        </p:nvSpPr>
        <p:spPr>
          <a:xfrm>
            <a:off x="958850" y="3162300"/>
            <a:ext cx="4664075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30" sz="1300">
                <a:solidFill>
                  <a:schemeClr val="accent1"/>
                </a:solidFill>
              </a:defRPr>
            </a:lvl1pPr>
          </a:lstStyle>
          <a:p>
            <a:pPr/>
            <a:r>
              <a:t>THE CHALLENGE</a:t>
            </a:r>
          </a:p>
        </p:txBody>
      </p:sp>
      <p:sp>
        <p:nvSpPr>
          <p:cNvPr id="303" name="Text 6"/>
          <p:cNvSpPr txBox="1"/>
          <p:nvPr/>
        </p:nvSpPr>
        <p:spPr>
          <a:xfrm>
            <a:off x="958850" y="3429000"/>
            <a:ext cx="4664075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B2437"/>
                </a:solidFill>
              </a:defRPr>
            </a:lvl1pPr>
          </a:lstStyle>
          <a:p>
            <a:pPr/>
            <a:r>
              <a:t>It was a team project, so several people changing the same code led to merge conflicts.</a:t>
            </a:r>
          </a:p>
        </p:txBody>
      </p:sp>
      <p:sp>
        <p:nvSpPr>
          <p:cNvPr id="304" name="Text 7"/>
          <p:cNvSpPr txBox="1"/>
          <p:nvPr/>
        </p:nvSpPr>
        <p:spPr>
          <a:xfrm>
            <a:off x="958850" y="4579937"/>
            <a:ext cx="4664075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30" sz="1300">
                <a:solidFill>
                  <a:schemeClr val="accent1"/>
                </a:solidFill>
              </a:defRPr>
            </a:lvl1pPr>
          </a:lstStyle>
          <a:p>
            <a:pPr/>
            <a:r>
              <a:t>HOW WE SOLVED IT</a:t>
            </a:r>
          </a:p>
        </p:txBody>
      </p:sp>
      <p:sp>
        <p:nvSpPr>
          <p:cNvPr id="305" name="Text 8"/>
          <p:cNvSpPr txBox="1"/>
          <p:nvPr/>
        </p:nvSpPr>
        <p:spPr>
          <a:xfrm>
            <a:off x="958850" y="4845050"/>
            <a:ext cx="4664075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B2437"/>
                </a:solidFill>
              </a:defRPr>
            </a:lvl1pPr>
          </a:lstStyle>
          <a:p>
            <a:pPr/>
            <a:r>
              <a:t>Work went through pull requests, with backend and frontend CI running before every merge.</a:t>
            </a:r>
          </a:p>
        </p:txBody>
      </p:sp>
      <p:sp>
        <p:nvSpPr>
          <p:cNvPr id="306" name="Generic AI Answers card"/>
          <p:cNvSpPr/>
          <p:nvPr/>
        </p:nvSpPr>
        <p:spPr>
          <a:xfrm>
            <a:off x="6216650" y="1782762"/>
            <a:ext cx="5303838" cy="4251326"/>
          </a:xfrm>
          <a:prstGeom prst="roundRect">
            <a:avLst>
              <a:gd name="adj" fmla="val 1722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307" name="Generic AI Answers icon circle"/>
          <p:cNvSpPr/>
          <p:nvPr/>
        </p:nvSpPr>
        <p:spPr>
          <a:xfrm>
            <a:off x="6537325" y="2101850"/>
            <a:ext cx="639763" cy="6413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308" name="Generic AI Answers icon" descr="Generic AI Answers ic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16712" y="2281237"/>
            <a:ext cx="280988" cy="282576"/>
          </a:xfrm>
          <a:prstGeom prst="rect">
            <a:avLst/>
          </a:prstGeom>
          <a:ln w="12700">
            <a:miter lim="400000"/>
          </a:ln>
        </p:spPr>
      </p:pic>
      <p:sp>
        <p:nvSpPr>
          <p:cNvPr id="309" name="Text 11"/>
          <p:cNvSpPr txBox="1"/>
          <p:nvPr/>
        </p:nvSpPr>
        <p:spPr>
          <a:xfrm>
            <a:off x="7405687" y="2274763"/>
            <a:ext cx="3840163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/>
            </a:lvl1pPr>
          </a:lstStyle>
          <a:p>
            <a:pPr/>
            <a:r>
              <a:t>Generic AI Answers</a:t>
            </a:r>
          </a:p>
        </p:txBody>
      </p:sp>
      <p:sp>
        <p:nvSpPr>
          <p:cNvPr id="310" name="Text 12"/>
          <p:cNvSpPr txBox="1"/>
          <p:nvPr/>
        </p:nvSpPr>
        <p:spPr>
          <a:xfrm>
            <a:off x="6537325" y="3162300"/>
            <a:ext cx="4664075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30" sz="1300">
                <a:solidFill>
                  <a:schemeClr val="accent1"/>
                </a:solidFill>
              </a:defRPr>
            </a:lvl1pPr>
          </a:lstStyle>
          <a:p>
            <a:pPr/>
            <a:r>
              <a:t>THE CHALLENGE</a:t>
            </a:r>
          </a:p>
        </p:txBody>
      </p:sp>
      <p:sp>
        <p:nvSpPr>
          <p:cNvPr id="311" name="Text 13"/>
          <p:cNvSpPr txBox="1"/>
          <p:nvPr/>
        </p:nvSpPr>
        <p:spPr>
          <a:xfrm>
            <a:off x="6537325" y="3429000"/>
            <a:ext cx="4664075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B2437"/>
                </a:solidFill>
              </a:defRPr>
            </a:lvl1pPr>
          </a:lstStyle>
          <a:p>
            <a:pPr/>
            <a:r>
              <a:t>After adding the API key, the AI chat was still giving generic answers.</a:t>
            </a:r>
          </a:p>
        </p:txBody>
      </p:sp>
      <p:sp>
        <p:nvSpPr>
          <p:cNvPr id="312" name="Text 14"/>
          <p:cNvSpPr txBox="1"/>
          <p:nvPr/>
        </p:nvSpPr>
        <p:spPr>
          <a:xfrm>
            <a:off x="6537325" y="4579937"/>
            <a:ext cx="4664075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30" sz="1300">
                <a:solidFill>
                  <a:schemeClr val="accent1"/>
                </a:solidFill>
              </a:defRPr>
            </a:lvl1pPr>
          </a:lstStyle>
          <a:p>
            <a:pPr/>
            <a:r>
              <a:t>HOW WE SOLVED IT</a:t>
            </a:r>
          </a:p>
        </p:txBody>
      </p:sp>
      <p:sp>
        <p:nvSpPr>
          <p:cNvPr id="313" name="Text 15"/>
          <p:cNvSpPr txBox="1"/>
          <p:nvPr/>
        </p:nvSpPr>
        <p:spPr>
          <a:xfrm>
            <a:off x="6537325" y="4845050"/>
            <a:ext cx="4664075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B2437"/>
                </a:solidFill>
              </a:defRPr>
            </a:lvl1pPr>
          </a:lstStyle>
          <a:p>
            <a:pPr/>
            <a:r>
              <a:t>We added a small amount of context, and the chat now gives user-specific answers.</a:t>
            </a:r>
          </a:p>
        </p:txBody>
      </p:sp>
      <p:sp>
        <p:nvSpPr>
          <p:cNvPr id="314" name="Slide Number Placeholder 0"/>
          <p:cNvSpPr txBox="1"/>
          <p:nvPr>
            <p:ph type="sldNum" sz="quarter" idx="4294967295"/>
          </p:nvPr>
        </p:nvSpPr>
        <p:spPr>
          <a:xfrm>
            <a:off x="11287611" y="6381750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 0"/>
          <p:cNvSpPr txBox="1"/>
          <p:nvPr>
            <p:ph type="title"/>
          </p:nvPr>
        </p:nvSpPr>
        <p:spPr>
          <a:xfrm>
            <a:off x="639762" y="365125"/>
            <a:ext cx="10880726" cy="6858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3400">
                <a:solidFill>
                  <a:srgbClr val="15233F"/>
                </a:solidFill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317" name="Conclusion statement panel"/>
          <p:cNvSpPr/>
          <p:nvPr/>
        </p:nvSpPr>
        <p:spPr>
          <a:xfrm>
            <a:off x="639762" y="1554162"/>
            <a:ext cx="4205288" cy="4525963"/>
          </a:xfrm>
          <a:prstGeom prst="roundRect">
            <a:avLst>
              <a:gd name="adj" fmla="val 1741"/>
            </a:avLst>
          </a:prstGeom>
          <a:solidFill>
            <a:srgbClr val="15233F"/>
          </a:solidFill>
          <a:ln w="12700">
            <a:solidFill>
              <a:srgbClr val="15233F"/>
            </a:solidFill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318" name="Conclusion icon circle"/>
          <p:cNvSpPr/>
          <p:nvPr/>
        </p:nvSpPr>
        <p:spPr>
          <a:xfrm>
            <a:off x="1004887" y="1919287"/>
            <a:ext cx="731838" cy="73183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319" name="Conclusion icon" descr="Conclusion icon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9675" y="2124075"/>
            <a:ext cx="322263" cy="322263"/>
          </a:xfrm>
          <a:prstGeom prst="rect">
            <a:avLst/>
          </a:prstGeom>
          <a:ln w="12700">
            <a:miter lim="400000"/>
          </a:ln>
        </p:spPr>
      </p:pic>
      <p:sp>
        <p:nvSpPr>
          <p:cNvPr id="320" name="Text 3"/>
          <p:cNvSpPr txBox="1"/>
          <p:nvPr/>
        </p:nvSpPr>
        <p:spPr>
          <a:xfrm>
            <a:off x="1004887" y="3016250"/>
            <a:ext cx="3475038" cy="125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One governed platform for projects, sprints and tasks.</a:t>
            </a:r>
          </a:p>
        </p:txBody>
      </p:sp>
      <p:sp>
        <p:nvSpPr>
          <p:cNvPr id="321" name="Conclusion point 1"/>
          <p:cNvSpPr/>
          <p:nvPr/>
        </p:nvSpPr>
        <p:spPr>
          <a:xfrm>
            <a:off x="5211762" y="1554162"/>
            <a:ext cx="6308726" cy="100488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322" name="Conclusion check 1 circle"/>
          <p:cNvSpPr/>
          <p:nvPr/>
        </p:nvSpPr>
        <p:spPr>
          <a:xfrm>
            <a:off x="5486400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323" name="Conclusion check 1" descr="Conclusion check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13400" y="1955800"/>
            <a:ext cx="201613" cy="201613"/>
          </a:xfrm>
          <a:prstGeom prst="rect">
            <a:avLst/>
          </a:prstGeom>
          <a:ln w="12700">
            <a:miter lim="400000"/>
          </a:ln>
        </p:spPr>
      </p:pic>
      <p:sp>
        <p:nvSpPr>
          <p:cNvPr id="324" name="Text 6"/>
          <p:cNvSpPr txBox="1"/>
          <p:nvPr/>
        </p:nvSpPr>
        <p:spPr>
          <a:xfrm>
            <a:off x="6172200" y="1825029"/>
            <a:ext cx="5119688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B2437"/>
                </a:solidFill>
              </a:defRPr>
            </a:lvl1pPr>
          </a:lstStyle>
          <a:p>
            <a:pPr/>
            <a:r>
              <a:t>Delivered a complete task platform: projects, sprints, Kanban, comments, files and notifications.</a:t>
            </a:r>
          </a:p>
        </p:txBody>
      </p:sp>
      <p:sp>
        <p:nvSpPr>
          <p:cNvPr id="325" name="Conclusion point 2"/>
          <p:cNvSpPr/>
          <p:nvPr/>
        </p:nvSpPr>
        <p:spPr>
          <a:xfrm>
            <a:off x="5211762" y="2724150"/>
            <a:ext cx="6308726" cy="100647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326" name="Conclusion check 2 circle"/>
          <p:cNvSpPr/>
          <p:nvPr/>
        </p:nvSpPr>
        <p:spPr>
          <a:xfrm>
            <a:off x="5486400" y="2998787"/>
            <a:ext cx="457200" cy="45720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327" name="Conclusion check 2" descr="Conclusion check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13400" y="3125787"/>
            <a:ext cx="201613" cy="201613"/>
          </a:xfrm>
          <a:prstGeom prst="rect">
            <a:avLst/>
          </a:prstGeom>
          <a:ln w="12700">
            <a:miter lim="400000"/>
          </a:ln>
        </p:spPr>
      </p:pic>
      <p:sp>
        <p:nvSpPr>
          <p:cNvPr id="328" name="Text 9"/>
          <p:cNvSpPr txBox="1"/>
          <p:nvPr/>
        </p:nvSpPr>
        <p:spPr>
          <a:xfrm>
            <a:off x="6172200" y="2995810"/>
            <a:ext cx="5119688" cy="463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B2437"/>
                </a:solidFill>
              </a:defRPr>
            </a:lvl1pPr>
          </a:lstStyle>
          <a:p>
            <a:pPr/>
            <a:r>
              <a:t>Built on 8 focused .NET microservices behind a single Ocelot API gateway.</a:t>
            </a:r>
          </a:p>
        </p:txBody>
      </p:sp>
      <p:sp>
        <p:nvSpPr>
          <p:cNvPr id="329" name="Conclusion point 3"/>
          <p:cNvSpPr/>
          <p:nvPr/>
        </p:nvSpPr>
        <p:spPr>
          <a:xfrm>
            <a:off x="5211762" y="3894137"/>
            <a:ext cx="6308726" cy="1006476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330" name="Conclusion check 3 circle"/>
          <p:cNvSpPr/>
          <p:nvPr/>
        </p:nvSpPr>
        <p:spPr>
          <a:xfrm>
            <a:off x="5486400" y="4168775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331" name="Conclusion check 3" descr="Conclusion check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13400" y="4297362"/>
            <a:ext cx="201613" cy="200026"/>
          </a:xfrm>
          <a:prstGeom prst="rect">
            <a:avLst/>
          </a:prstGeom>
          <a:ln w="12700">
            <a:miter lim="400000"/>
          </a:ln>
        </p:spPr>
      </p:pic>
      <p:sp>
        <p:nvSpPr>
          <p:cNvPr id="332" name="Text 12"/>
          <p:cNvSpPr txBox="1"/>
          <p:nvPr/>
        </p:nvSpPr>
        <p:spPr>
          <a:xfrm>
            <a:off x="6172200" y="4292798"/>
            <a:ext cx="5119688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B2437"/>
                </a:solidFill>
              </a:defRPr>
            </a:lvl1pPr>
          </a:lstStyle>
          <a:p>
            <a:pPr/>
            <a:r>
              <a:t>Secured with JWT and clear Admin and User roles.</a:t>
            </a:r>
          </a:p>
        </p:txBody>
      </p:sp>
      <p:sp>
        <p:nvSpPr>
          <p:cNvPr id="333" name="Conclusion point 4"/>
          <p:cNvSpPr/>
          <p:nvPr/>
        </p:nvSpPr>
        <p:spPr>
          <a:xfrm>
            <a:off x="5211762" y="5065712"/>
            <a:ext cx="6308726" cy="100488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334" name="Conclusion check 4 circle"/>
          <p:cNvSpPr/>
          <p:nvPr/>
        </p:nvSpPr>
        <p:spPr>
          <a:xfrm>
            <a:off x="5486400" y="5338762"/>
            <a:ext cx="457200" cy="45720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335" name="Conclusion check 4" descr="Conclusion check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13400" y="5467350"/>
            <a:ext cx="201613" cy="201613"/>
          </a:xfrm>
          <a:prstGeom prst="rect">
            <a:avLst/>
          </a:prstGeom>
          <a:ln w="12700">
            <a:miter lim="400000"/>
          </a:ln>
        </p:spPr>
      </p:pic>
      <p:sp>
        <p:nvSpPr>
          <p:cNvPr id="336" name="Text 15"/>
          <p:cNvSpPr txBox="1"/>
          <p:nvPr/>
        </p:nvSpPr>
        <p:spPr>
          <a:xfrm>
            <a:off x="6172200" y="5335785"/>
            <a:ext cx="5119688" cy="463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B2437"/>
                </a:solidFill>
              </a:defRPr>
            </a:lvl1pPr>
          </a:lstStyle>
          <a:p>
            <a:pPr/>
            <a:r>
              <a:t>Backed by 130+ automated tests and CI, with an AI chat that gives user-specific answers.</a:t>
            </a:r>
          </a:p>
        </p:txBody>
      </p:sp>
      <p:sp>
        <p:nvSpPr>
          <p:cNvPr id="337" name="Slide Number Placeholder 0"/>
          <p:cNvSpPr txBox="1"/>
          <p:nvPr>
            <p:ph type="sldNum" sz="quarter" idx="4294967295"/>
          </p:nvPr>
        </p:nvSpPr>
        <p:spPr>
          <a:xfrm>
            <a:off x="11287611" y="6381750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 0"/>
          <p:cNvSpPr txBox="1"/>
          <p:nvPr>
            <p:ph type="title"/>
          </p:nvPr>
        </p:nvSpPr>
        <p:spPr>
          <a:xfrm>
            <a:off x="639762" y="365125"/>
            <a:ext cx="10880726" cy="6858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3400">
                <a:solidFill>
                  <a:srgbClr val="15233F"/>
                </a:solidFill>
              </a:defRPr>
            </a:lvl1pPr>
          </a:lstStyle>
          <a:p>
            <a:pPr/>
            <a:r>
              <a:t>Future Scope</a:t>
            </a:r>
          </a:p>
        </p:txBody>
      </p:sp>
      <p:sp>
        <p:nvSpPr>
          <p:cNvPr id="340" name="Text 0"/>
          <p:cNvSpPr txBox="1"/>
          <p:nvPr>
            <p:ph type="body" sz="quarter" idx="1"/>
          </p:nvPr>
        </p:nvSpPr>
        <p:spPr>
          <a:xfrm>
            <a:off x="639762" y="1050925"/>
            <a:ext cx="10880726" cy="4111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300"/>
              </a:spcBef>
              <a:buSzTx/>
              <a:buNone/>
              <a:defRPr sz="1600">
                <a:solidFill>
                  <a:srgbClr val="64748B"/>
                </a:solidFill>
              </a:defRPr>
            </a:lvl1pPr>
          </a:lstStyle>
          <a:p>
            <a:pPr/>
            <a:r>
              <a:t>Where the platform can grow next</a:t>
            </a:r>
          </a:p>
        </p:txBody>
      </p:sp>
      <p:sp>
        <p:nvSpPr>
          <p:cNvPr id="341" name="Mobile App card"/>
          <p:cNvSpPr/>
          <p:nvPr/>
        </p:nvSpPr>
        <p:spPr>
          <a:xfrm>
            <a:off x="639762" y="1782762"/>
            <a:ext cx="3429001" cy="2011363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342" name="Mobile App icon circle"/>
          <p:cNvSpPr/>
          <p:nvPr/>
        </p:nvSpPr>
        <p:spPr>
          <a:xfrm>
            <a:off x="914399" y="2057399"/>
            <a:ext cx="547689" cy="54768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343" name="Mobile App icon" descr="Mobile App icon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6800" y="2209800"/>
            <a:ext cx="241300" cy="241300"/>
          </a:xfrm>
          <a:prstGeom prst="rect">
            <a:avLst/>
          </a:prstGeom>
          <a:ln w="12700">
            <a:miter lim="400000"/>
          </a:ln>
        </p:spPr>
      </p:pic>
      <p:sp>
        <p:nvSpPr>
          <p:cNvPr id="344" name="Text 4"/>
          <p:cNvSpPr txBox="1"/>
          <p:nvPr/>
        </p:nvSpPr>
        <p:spPr>
          <a:xfrm>
            <a:off x="914400" y="2800598"/>
            <a:ext cx="2879725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Mobile App</a:t>
            </a:r>
          </a:p>
        </p:txBody>
      </p:sp>
      <p:sp>
        <p:nvSpPr>
          <p:cNvPr id="345" name="Text 5"/>
          <p:cNvSpPr txBox="1"/>
          <p:nvPr/>
        </p:nvSpPr>
        <p:spPr>
          <a:xfrm>
            <a:off x="914400" y="3154362"/>
            <a:ext cx="2879725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B2437"/>
                </a:solidFill>
              </a:defRPr>
            </a:lvl1pPr>
          </a:lstStyle>
          <a:p>
            <a:pPr/>
            <a:r>
              <a:t>Update and track tasks on the go</a:t>
            </a:r>
          </a:p>
        </p:txBody>
      </p:sp>
      <p:sp>
        <p:nvSpPr>
          <p:cNvPr id="346" name="Advanced Analytics card"/>
          <p:cNvSpPr/>
          <p:nvPr/>
        </p:nvSpPr>
        <p:spPr>
          <a:xfrm>
            <a:off x="4365625" y="1782762"/>
            <a:ext cx="3429000" cy="2011363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347" name="Advanced Analytics icon circle"/>
          <p:cNvSpPr/>
          <p:nvPr/>
        </p:nvSpPr>
        <p:spPr>
          <a:xfrm>
            <a:off x="4640262" y="2057399"/>
            <a:ext cx="547689" cy="54768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348" name="Advanced Analytics icon" descr="Advanced Analytics ic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92662" y="2209800"/>
            <a:ext cx="242888" cy="241300"/>
          </a:xfrm>
          <a:prstGeom prst="rect">
            <a:avLst/>
          </a:prstGeom>
          <a:ln w="12700">
            <a:miter lim="400000"/>
          </a:ln>
        </p:spPr>
      </p:pic>
      <p:sp>
        <p:nvSpPr>
          <p:cNvPr id="349" name="Text 8"/>
          <p:cNvSpPr txBox="1"/>
          <p:nvPr/>
        </p:nvSpPr>
        <p:spPr>
          <a:xfrm>
            <a:off x="4640262" y="2800598"/>
            <a:ext cx="2879726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Advanced Analytics</a:t>
            </a:r>
          </a:p>
        </p:txBody>
      </p:sp>
      <p:sp>
        <p:nvSpPr>
          <p:cNvPr id="350" name="Text 9"/>
          <p:cNvSpPr txBox="1"/>
          <p:nvPr/>
        </p:nvSpPr>
        <p:spPr>
          <a:xfrm>
            <a:off x="4640262" y="3154362"/>
            <a:ext cx="2879726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B2437"/>
                </a:solidFill>
              </a:defRPr>
            </a:lvl1pPr>
          </a:lstStyle>
          <a:p>
            <a:pPr/>
            <a:r>
              <a:t>Deeper reports and sprint insights</a:t>
            </a:r>
          </a:p>
        </p:txBody>
      </p:sp>
      <p:sp>
        <p:nvSpPr>
          <p:cNvPr id="351" name="Smarter AI Assistant card"/>
          <p:cNvSpPr/>
          <p:nvPr/>
        </p:nvSpPr>
        <p:spPr>
          <a:xfrm>
            <a:off x="8091487" y="1782762"/>
            <a:ext cx="3429001" cy="2011363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352" name="Smarter AI Assistant icon circle"/>
          <p:cNvSpPr/>
          <p:nvPr/>
        </p:nvSpPr>
        <p:spPr>
          <a:xfrm>
            <a:off x="8366124" y="2057399"/>
            <a:ext cx="547689" cy="54768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353" name="Smarter AI Assistant icon" descr="Smarter AI Assistant ic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520112" y="2209800"/>
            <a:ext cx="241301" cy="241300"/>
          </a:xfrm>
          <a:prstGeom prst="rect">
            <a:avLst/>
          </a:prstGeom>
          <a:ln w="12700">
            <a:miter lim="400000"/>
          </a:ln>
        </p:spPr>
      </p:pic>
      <p:sp>
        <p:nvSpPr>
          <p:cNvPr id="354" name="Text 12"/>
          <p:cNvSpPr txBox="1"/>
          <p:nvPr/>
        </p:nvSpPr>
        <p:spPr>
          <a:xfrm>
            <a:off x="8366125" y="2800598"/>
            <a:ext cx="2879725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Smarter AI Assistant</a:t>
            </a:r>
          </a:p>
        </p:txBody>
      </p:sp>
      <p:sp>
        <p:nvSpPr>
          <p:cNvPr id="355" name="Text 13"/>
          <p:cNvSpPr txBox="1"/>
          <p:nvPr/>
        </p:nvSpPr>
        <p:spPr>
          <a:xfrm>
            <a:off x="8366125" y="3154362"/>
            <a:ext cx="2879725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B2437"/>
                </a:solidFill>
              </a:defRPr>
            </a:lvl1pPr>
          </a:lstStyle>
          <a:p>
            <a:pPr/>
            <a:r>
              <a:t>Task suggestions and project summaries</a:t>
            </a:r>
          </a:p>
        </p:txBody>
      </p:sp>
      <p:sp>
        <p:nvSpPr>
          <p:cNvPr id="356" name="More Notifications card"/>
          <p:cNvSpPr/>
          <p:nvPr/>
        </p:nvSpPr>
        <p:spPr>
          <a:xfrm>
            <a:off x="639762" y="4022725"/>
            <a:ext cx="3429001" cy="2011363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357" name="More Notifications icon circle"/>
          <p:cNvSpPr/>
          <p:nvPr/>
        </p:nvSpPr>
        <p:spPr>
          <a:xfrm>
            <a:off x="914399" y="4297362"/>
            <a:ext cx="547689" cy="54768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358" name="More Notifications icon" descr="More Notifications icon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66800" y="4449762"/>
            <a:ext cx="241300" cy="242888"/>
          </a:xfrm>
          <a:prstGeom prst="rect">
            <a:avLst/>
          </a:prstGeom>
          <a:ln w="12700">
            <a:miter lim="400000"/>
          </a:ln>
        </p:spPr>
      </p:pic>
      <p:sp>
        <p:nvSpPr>
          <p:cNvPr id="359" name="Text 16"/>
          <p:cNvSpPr txBox="1"/>
          <p:nvPr/>
        </p:nvSpPr>
        <p:spPr>
          <a:xfrm>
            <a:off x="914400" y="5041354"/>
            <a:ext cx="2879725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More Notifications</a:t>
            </a:r>
          </a:p>
        </p:txBody>
      </p:sp>
      <p:sp>
        <p:nvSpPr>
          <p:cNvPr id="360" name="Text 17"/>
          <p:cNvSpPr txBox="1"/>
          <p:nvPr/>
        </p:nvSpPr>
        <p:spPr>
          <a:xfrm>
            <a:off x="914400" y="5394325"/>
            <a:ext cx="2879725" cy="18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B2437"/>
                </a:solidFill>
              </a:defRPr>
            </a:lvl1pPr>
          </a:lstStyle>
          <a:p>
            <a:pPr/>
            <a:r>
              <a:t>Email and push alerts beyond in-app</a:t>
            </a:r>
          </a:p>
        </p:txBody>
      </p:sp>
      <p:sp>
        <p:nvSpPr>
          <p:cNvPr id="361" name="Integrations card"/>
          <p:cNvSpPr/>
          <p:nvPr/>
        </p:nvSpPr>
        <p:spPr>
          <a:xfrm>
            <a:off x="4365625" y="4022725"/>
            <a:ext cx="3429000" cy="2011363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362" name="Integrations icon circle"/>
          <p:cNvSpPr/>
          <p:nvPr/>
        </p:nvSpPr>
        <p:spPr>
          <a:xfrm>
            <a:off x="4640262" y="4297362"/>
            <a:ext cx="547689" cy="54768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363" name="Integrations icon" descr="Integrations icon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792662" y="4449762"/>
            <a:ext cx="242888" cy="242888"/>
          </a:xfrm>
          <a:prstGeom prst="rect">
            <a:avLst/>
          </a:prstGeom>
          <a:ln w="12700">
            <a:miter lim="400000"/>
          </a:ln>
        </p:spPr>
      </p:pic>
      <p:sp>
        <p:nvSpPr>
          <p:cNvPr id="364" name="Text 20"/>
          <p:cNvSpPr txBox="1"/>
          <p:nvPr/>
        </p:nvSpPr>
        <p:spPr>
          <a:xfrm>
            <a:off x="4640262" y="5041354"/>
            <a:ext cx="2879726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Integrations</a:t>
            </a:r>
          </a:p>
        </p:txBody>
      </p:sp>
      <p:sp>
        <p:nvSpPr>
          <p:cNvPr id="365" name="Text 21"/>
          <p:cNvSpPr txBox="1"/>
          <p:nvPr/>
        </p:nvSpPr>
        <p:spPr>
          <a:xfrm>
            <a:off x="4640262" y="5394325"/>
            <a:ext cx="2879726" cy="18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B2437"/>
                </a:solidFill>
              </a:defRPr>
            </a:lvl1pPr>
          </a:lstStyle>
          <a:p>
            <a:pPr/>
            <a:r>
              <a:t>Connect with tools like Slack and Teams</a:t>
            </a:r>
          </a:p>
        </p:txBody>
      </p:sp>
      <p:sp>
        <p:nvSpPr>
          <p:cNvPr id="366" name="Cloud Deployment card"/>
          <p:cNvSpPr/>
          <p:nvPr/>
        </p:nvSpPr>
        <p:spPr>
          <a:xfrm>
            <a:off x="8091487" y="4022725"/>
            <a:ext cx="3429001" cy="2011363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25400" dir="5400000">
              <a:srgbClr val="1B2437">
                <a:alpha val="9999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sp>
        <p:nvSpPr>
          <p:cNvPr id="367" name="Cloud Deployment icon circle"/>
          <p:cNvSpPr/>
          <p:nvPr/>
        </p:nvSpPr>
        <p:spPr>
          <a:xfrm>
            <a:off x="8366124" y="4297362"/>
            <a:ext cx="547689" cy="54768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368" name="Cloud Deployment icon" descr="Cloud Deployment icon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520112" y="4449762"/>
            <a:ext cx="241301" cy="242888"/>
          </a:xfrm>
          <a:prstGeom prst="rect">
            <a:avLst/>
          </a:prstGeom>
          <a:ln w="12700">
            <a:miter lim="400000"/>
          </a:ln>
        </p:spPr>
      </p:pic>
      <p:sp>
        <p:nvSpPr>
          <p:cNvPr id="369" name="Text 24"/>
          <p:cNvSpPr txBox="1"/>
          <p:nvPr/>
        </p:nvSpPr>
        <p:spPr>
          <a:xfrm>
            <a:off x="8366125" y="5041354"/>
            <a:ext cx="2879725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Cloud Deployment</a:t>
            </a:r>
          </a:p>
        </p:txBody>
      </p:sp>
      <p:sp>
        <p:nvSpPr>
          <p:cNvPr id="370" name="Text 25"/>
          <p:cNvSpPr txBox="1"/>
          <p:nvPr/>
        </p:nvSpPr>
        <p:spPr>
          <a:xfrm>
            <a:off x="8366125" y="5394325"/>
            <a:ext cx="2879725" cy="18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B2437"/>
                </a:solidFill>
              </a:defRPr>
            </a:lvl1pPr>
          </a:lstStyle>
          <a:p>
            <a:pPr/>
            <a:r>
              <a:t>Host on the cloud to scale with demand</a:t>
            </a:r>
          </a:p>
        </p:txBody>
      </p:sp>
      <p:sp>
        <p:nvSpPr>
          <p:cNvPr id="371" name="Slide Number Placeholder 0"/>
          <p:cNvSpPr txBox="1"/>
          <p:nvPr>
            <p:ph type="sldNum" sz="quarter" idx="4294967295"/>
          </p:nvPr>
        </p:nvSpPr>
        <p:spPr>
          <a:xfrm>
            <a:off x="11287611" y="6381750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Text 0"/>
          <p:cNvSpPr txBox="1"/>
          <p:nvPr>
            <p:ph type="title"/>
          </p:nvPr>
        </p:nvSpPr>
        <p:spPr>
          <a:xfrm>
            <a:off x="822325" y="1096962"/>
            <a:ext cx="10058400" cy="1004888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5400">
                <a:solidFill>
                  <a:srgbClr val="FFFFFF"/>
                </a:solidFill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374" name="Text 0"/>
          <p:cNvSpPr txBox="1"/>
          <p:nvPr>
            <p:ph type="body" sz="quarter" idx="1"/>
          </p:nvPr>
        </p:nvSpPr>
        <p:spPr>
          <a:xfrm>
            <a:off x="822325" y="2193925"/>
            <a:ext cx="100584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500"/>
              </a:spcBef>
              <a:buSzTx/>
              <a:buNone/>
              <a:defRPr sz="2200">
                <a:solidFill>
                  <a:srgbClr val="CBD5E1"/>
                </a:solidFill>
              </a:defRPr>
            </a:lvl1pPr>
          </a:lstStyle>
          <a:p>
            <a:pPr/>
            <a:r>
              <a:t>We welcome your questions and feedback.</a:t>
            </a:r>
          </a:p>
        </p:txBody>
      </p:sp>
      <p:sp>
        <p:nvSpPr>
          <p:cNvPr id="375" name="Text 2"/>
          <p:cNvSpPr txBox="1"/>
          <p:nvPr/>
        </p:nvSpPr>
        <p:spPr>
          <a:xfrm>
            <a:off x="4022725" y="3127945"/>
            <a:ext cx="3657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40" sz="1400">
                <a:solidFill>
                  <a:srgbClr val="CBD5E1"/>
                </a:solidFill>
              </a:defRPr>
            </a:lvl1pPr>
          </a:lstStyle>
          <a:p>
            <a:pPr/>
            <a:r>
              <a:t>PROJECT TEAM</a:t>
            </a:r>
          </a:p>
        </p:txBody>
      </p:sp>
      <p:sp>
        <p:nvSpPr>
          <p:cNvPr id="376" name="Denish Murawala photo ring"/>
          <p:cNvSpPr/>
          <p:nvPr/>
        </p:nvSpPr>
        <p:spPr>
          <a:xfrm>
            <a:off x="2143125" y="3738562"/>
            <a:ext cx="1481138" cy="148113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377" name="Denish Murawala photo" descr="Denish Murawala phot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97893" y="3793331"/>
            <a:ext cx="1371601" cy="1371601"/>
          </a:xfrm>
          <a:prstGeom prst="rect">
            <a:avLst/>
          </a:prstGeom>
          <a:ln w="12700">
            <a:miter lim="400000"/>
          </a:ln>
        </p:spPr>
      </p:pic>
      <p:sp>
        <p:nvSpPr>
          <p:cNvPr id="378" name="Text 4"/>
          <p:cNvSpPr txBox="1"/>
          <p:nvPr/>
        </p:nvSpPr>
        <p:spPr>
          <a:xfrm>
            <a:off x="2285364" y="5367908"/>
            <a:ext cx="2468564" cy="18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Denish Murawala</a:t>
            </a:r>
          </a:p>
        </p:txBody>
      </p:sp>
      <p:sp>
        <p:nvSpPr>
          <p:cNvPr id="379" name="Avinash Kanaujia photo ring"/>
          <p:cNvSpPr/>
          <p:nvPr/>
        </p:nvSpPr>
        <p:spPr>
          <a:xfrm>
            <a:off x="5110956" y="3738562"/>
            <a:ext cx="1481138" cy="148113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380" name="Avinash Kanaujia photo" descr="Avinash Kanaujia photo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65724" y="3793331"/>
            <a:ext cx="1371601" cy="1371601"/>
          </a:xfrm>
          <a:prstGeom prst="rect">
            <a:avLst/>
          </a:prstGeom>
          <a:ln w="12700">
            <a:miter lim="400000"/>
          </a:ln>
        </p:spPr>
      </p:pic>
      <p:sp>
        <p:nvSpPr>
          <p:cNvPr id="381" name="Text 6"/>
          <p:cNvSpPr txBox="1"/>
          <p:nvPr/>
        </p:nvSpPr>
        <p:spPr>
          <a:xfrm>
            <a:off x="5215572" y="5367908"/>
            <a:ext cx="2468563" cy="18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Avinash Kanaujia</a:t>
            </a:r>
          </a:p>
        </p:txBody>
      </p:sp>
      <p:sp>
        <p:nvSpPr>
          <p:cNvPr id="382" name="Anushtup Ganguly photo ring"/>
          <p:cNvSpPr/>
          <p:nvPr/>
        </p:nvSpPr>
        <p:spPr>
          <a:xfrm>
            <a:off x="8139906" y="3738562"/>
            <a:ext cx="1481138" cy="148113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1B2437"/>
                </a:solidFill>
              </a:defRPr>
            </a:pPr>
          </a:p>
        </p:txBody>
      </p:sp>
      <p:pic>
        <p:nvPicPr>
          <p:cNvPr id="383" name="Anushtup Ganguly photo" descr="Anushtup Ganguly photo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194674" y="3793331"/>
            <a:ext cx="1371601" cy="1371601"/>
          </a:xfrm>
          <a:prstGeom prst="rect">
            <a:avLst/>
          </a:prstGeom>
          <a:ln w="12700">
            <a:miter lim="400000"/>
          </a:ln>
        </p:spPr>
      </p:pic>
      <p:sp>
        <p:nvSpPr>
          <p:cNvPr id="384" name="Text 8"/>
          <p:cNvSpPr txBox="1"/>
          <p:nvPr/>
        </p:nvSpPr>
        <p:spPr>
          <a:xfrm>
            <a:off x="8395652" y="5367908"/>
            <a:ext cx="2468564" cy="18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Anushtup Ganguly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Task Management System">
  <a:themeElements>
    <a:clrScheme name="Task Management System">
      <a:dk1>
        <a:srgbClr val="15233F"/>
      </a:dk1>
      <a:lt1>
        <a:srgbClr val="15233F"/>
      </a:lt1>
      <a:dk2>
        <a:srgbClr val="A7A7A7"/>
      </a:dk2>
      <a:lt2>
        <a:srgbClr val="535353"/>
      </a:lt2>
      <a:accent1>
        <a:srgbClr val="2A8C82"/>
      </a:accent1>
      <a:accent2>
        <a:srgbClr val="1F3A5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ask Management System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Task Management Syste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B2437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5233F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5233F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Task Management System">
  <a:themeElements>
    <a:clrScheme name="Task Management System">
      <a:dk1>
        <a:srgbClr val="1B2437"/>
      </a:dk1>
      <a:lt1>
        <a:srgbClr val="372E1C"/>
      </a:lt1>
      <a:dk2>
        <a:srgbClr val="A7A7A7"/>
      </a:dk2>
      <a:lt2>
        <a:srgbClr val="535353"/>
      </a:lt2>
      <a:accent1>
        <a:srgbClr val="2A8C82"/>
      </a:accent1>
      <a:accent2>
        <a:srgbClr val="1F3A5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ask Management System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Task Management Syste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B2437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5233F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5233F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